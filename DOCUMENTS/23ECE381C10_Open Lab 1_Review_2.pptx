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grandir Tight Bold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Luciole" panose="020B0604020202020204" charset="0"/>
      <p:regular r:id="rId15"/>
    </p:embeddedFont>
    <p:embeddedFont>
      <p:font typeface="Luciole Bold" panose="020B0604020202020204" charset="0"/>
      <p:regular r:id="rId16"/>
    </p:embeddedFont>
    <p:embeddedFont>
      <p:font typeface="Oswald" panose="00000500000000000000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dgetronicx.com/digital-code-lock-circuit-without-microcontroller/" TargetMode="External"/><Relationship Id="rId2" Type="http://schemas.openxmlformats.org/officeDocument/2006/relationships/hyperlink" Target="https://www.instructables.com/Electronic-Code-Lock-System-Using-IC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76389"/>
            <a:ext cx="2931920" cy="2810178"/>
            <a:chOff x="0" y="0"/>
            <a:chExt cx="3909226" cy="374690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885486" cy="3011111"/>
              <a:chOff x="0" y="0"/>
              <a:chExt cx="174911" cy="59478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74911" cy="594787"/>
              </a:xfrm>
              <a:custGeom>
                <a:avLst/>
                <a:gdLst/>
                <a:ahLst/>
                <a:cxnLst/>
                <a:rect l="l" t="t" r="r" b="b"/>
                <a:pathLst>
                  <a:path w="174911" h="594787">
                    <a:moveTo>
                      <a:pt x="87455" y="0"/>
                    </a:moveTo>
                    <a:lnTo>
                      <a:pt x="87455" y="0"/>
                    </a:lnTo>
                    <a:cubicBezTo>
                      <a:pt x="135756" y="0"/>
                      <a:pt x="174911" y="39155"/>
                      <a:pt x="174911" y="87455"/>
                    </a:cubicBezTo>
                    <a:lnTo>
                      <a:pt x="174911" y="507332"/>
                    </a:lnTo>
                    <a:cubicBezTo>
                      <a:pt x="174911" y="530526"/>
                      <a:pt x="165697" y="552771"/>
                      <a:pt x="149296" y="569172"/>
                    </a:cubicBezTo>
                    <a:cubicBezTo>
                      <a:pt x="132895" y="585573"/>
                      <a:pt x="110650" y="594787"/>
                      <a:pt x="87455" y="594787"/>
                    </a:cubicBezTo>
                    <a:lnTo>
                      <a:pt x="87455" y="594787"/>
                    </a:lnTo>
                    <a:cubicBezTo>
                      <a:pt x="39155" y="594787"/>
                      <a:pt x="0" y="555632"/>
                      <a:pt x="0" y="507332"/>
                    </a:cubicBezTo>
                    <a:lnTo>
                      <a:pt x="0" y="87455"/>
                    </a:lnTo>
                    <a:cubicBezTo>
                      <a:pt x="0" y="64261"/>
                      <a:pt x="9214" y="42016"/>
                      <a:pt x="25615" y="25615"/>
                    </a:cubicBezTo>
                    <a:cubicBezTo>
                      <a:pt x="42016" y="9214"/>
                      <a:pt x="64261" y="0"/>
                      <a:pt x="87455" y="0"/>
                    </a:cubicBezTo>
                    <a:close/>
                  </a:path>
                </a:pathLst>
              </a:custGeom>
              <a:solidFill>
                <a:srgbClr val="61C8A3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74911" cy="6328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511870" y="0"/>
              <a:ext cx="885486" cy="3746904"/>
              <a:chOff x="0" y="0"/>
              <a:chExt cx="174911" cy="74012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74911" cy="740129"/>
              </a:xfrm>
              <a:custGeom>
                <a:avLst/>
                <a:gdLst/>
                <a:ahLst/>
                <a:cxnLst/>
                <a:rect l="l" t="t" r="r" b="b"/>
                <a:pathLst>
                  <a:path w="174911" h="740129">
                    <a:moveTo>
                      <a:pt x="87455" y="0"/>
                    </a:moveTo>
                    <a:lnTo>
                      <a:pt x="87455" y="0"/>
                    </a:lnTo>
                    <a:cubicBezTo>
                      <a:pt x="135756" y="0"/>
                      <a:pt x="174911" y="39155"/>
                      <a:pt x="174911" y="87455"/>
                    </a:cubicBezTo>
                    <a:lnTo>
                      <a:pt x="174911" y="652674"/>
                    </a:lnTo>
                    <a:cubicBezTo>
                      <a:pt x="174911" y="675868"/>
                      <a:pt x="165697" y="698113"/>
                      <a:pt x="149296" y="714514"/>
                    </a:cubicBezTo>
                    <a:cubicBezTo>
                      <a:pt x="132895" y="730915"/>
                      <a:pt x="110650" y="740129"/>
                      <a:pt x="87455" y="740129"/>
                    </a:cubicBezTo>
                    <a:lnTo>
                      <a:pt x="87455" y="740129"/>
                    </a:lnTo>
                    <a:cubicBezTo>
                      <a:pt x="64261" y="740129"/>
                      <a:pt x="42016" y="730915"/>
                      <a:pt x="25615" y="714514"/>
                    </a:cubicBezTo>
                    <a:cubicBezTo>
                      <a:pt x="9214" y="698113"/>
                      <a:pt x="0" y="675868"/>
                      <a:pt x="0" y="652674"/>
                    </a:cubicBezTo>
                    <a:lnTo>
                      <a:pt x="0" y="87455"/>
                    </a:lnTo>
                    <a:cubicBezTo>
                      <a:pt x="0" y="64261"/>
                      <a:pt x="9214" y="42016"/>
                      <a:pt x="25615" y="25615"/>
                    </a:cubicBezTo>
                    <a:cubicBezTo>
                      <a:pt x="42016" y="9214"/>
                      <a:pt x="64261" y="0"/>
                      <a:pt x="8745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C584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74911" cy="7782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023740" y="0"/>
              <a:ext cx="885486" cy="2098277"/>
              <a:chOff x="0" y="0"/>
              <a:chExt cx="174911" cy="414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74911" cy="414475"/>
              </a:xfrm>
              <a:custGeom>
                <a:avLst/>
                <a:gdLst/>
                <a:ahLst/>
                <a:cxnLst/>
                <a:rect l="l" t="t" r="r" b="b"/>
                <a:pathLst>
                  <a:path w="174911" h="414475">
                    <a:moveTo>
                      <a:pt x="87455" y="0"/>
                    </a:moveTo>
                    <a:lnTo>
                      <a:pt x="87455" y="0"/>
                    </a:lnTo>
                    <a:cubicBezTo>
                      <a:pt x="135756" y="0"/>
                      <a:pt x="174911" y="39155"/>
                      <a:pt x="174911" y="87455"/>
                    </a:cubicBezTo>
                    <a:lnTo>
                      <a:pt x="174911" y="327019"/>
                    </a:lnTo>
                    <a:cubicBezTo>
                      <a:pt x="174911" y="350214"/>
                      <a:pt x="165697" y="372458"/>
                      <a:pt x="149296" y="388859"/>
                    </a:cubicBezTo>
                    <a:cubicBezTo>
                      <a:pt x="132895" y="405261"/>
                      <a:pt x="110650" y="414475"/>
                      <a:pt x="87455" y="414475"/>
                    </a:cubicBezTo>
                    <a:lnTo>
                      <a:pt x="87455" y="414475"/>
                    </a:lnTo>
                    <a:cubicBezTo>
                      <a:pt x="39155" y="414475"/>
                      <a:pt x="0" y="375319"/>
                      <a:pt x="0" y="327019"/>
                    </a:cubicBezTo>
                    <a:lnTo>
                      <a:pt x="0" y="87455"/>
                    </a:lnTo>
                    <a:cubicBezTo>
                      <a:pt x="0" y="64261"/>
                      <a:pt x="9214" y="42016"/>
                      <a:pt x="25615" y="25615"/>
                    </a:cubicBezTo>
                    <a:cubicBezTo>
                      <a:pt x="42016" y="9214"/>
                      <a:pt x="64261" y="0"/>
                      <a:pt x="87455" y="0"/>
                    </a:cubicBezTo>
                    <a:close/>
                  </a:path>
                </a:pathLst>
              </a:custGeom>
              <a:solidFill>
                <a:srgbClr val="6C584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74911" cy="4525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972361" y="2530327"/>
            <a:ext cx="15585029" cy="2157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5"/>
              </a:lnSpc>
              <a:spcBef>
                <a:spcPct val="0"/>
              </a:spcBef>
            </a:pPr>
            <a:r>
              <a:rPr lang="en-US" sz="6175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DIGITAL LOCKING SYSTEM WITH UNAUTHORIZED ACCESS ALERT 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506256" y="5143500"/>
            <a:ext cx="1392216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5317994" y="1297891"/>
            <a:ext cx="943661" cy="506169"/>
          </a:xfrm>
          <a:custGeom>
            <a:avLst/>
            <a:gdLst/>
            <a:ahLst/>
            <a:cxnLst/>
            <a:rect l="l" t="t" r="r" b="b"/>
            <a:pathLst>
              <a:path w="943661" h="506169">
                <a:moveTo>
                  <a:pt x="0" y="0"/>
                </a:moveTo>
                <a:lnTo>
                  <a:pt x="943661" y="0"/>
                </a:lnTo>
                <a:lnTo>
                  <a:pt x="943661" y="506169"/>
                </a:lnTo>
                <a:lnTo>
                  <a:pt x="0" y="506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3457126" y="5505450"/>
            <a:ext cx="11392798" cy="94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7"/>
              </a:lnSpc>
              <a:spcBef>
                <a:spcPct val="0"/>
              </a:spcBef>
            </a:pPr>
            <a:r>
              <a:rPr lang="en-US" sz="4755" b="1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Presented By :23ECE381C10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96768" y="6896100"/>
            <a:ext cx="8390632" cy="2974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8"/>
              </a:lnSpc>
            </a:pPr>
            <a:r>
              <a:rPr lang="en-US" sz="337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Members:</a:t>
            </a:r>
          </a:p>
          <a:p>
            <a:pPr algn="ctr">
              <a:lnSpc>
                <a:spcPts val="4718"/>
              </a:lnSpc>
            </a:pPr>
            <a:r>
              <a:rPr lang="en-US" sz="337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Chittesh S(CB.EN.U4ECE23212)</a:t>
            </a:r>
          </a:p>
          <a:p>
            <a:pPr algn="ctr">
              <a:lnSpc>
                <a:spcPts val="4718"/>
              </a:lnSpc>
            </a:pPr>
            <a:r>
              <a:rPr lang="en-US" sz="337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Sricharan R P(CB.EN.U4ECE23246)</a:t>
            </a:r>
          </a:p>
          <a:p>
            <a:pPr algn="ctr">
              <a:lnSpc>
                <a:spcPts val="4718"/>
              </a:lnSpc>
            </a:pPr>
            <a:r>
              <a:rPr lang="en-US" sz="337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Sujith Krishna P G(CB.EN.U4ECE23249)</a:t>
            </a:r>
          </a:p>
          <a:p>
            <a:pPr algn="ctr">
              <a:lnSpc>
                <a:spcPts val="4718"/>
              </a:lnSpc>
            </a:pPr>
            <a:endParaRPr lang="en-US" sz="337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040429" y="1211336"/>
            <a:ext cx="702334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23ECE381 Open Laboratory 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17557"/>
            <a:ext cx="21945600" cy="1569443"/>
            <a:chOff x="0" y="0"/>
            <a:chExt cx="29260800" cy="209259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2092591"/>
              <a:chOff x="0" y="0"/>
              <a:chExt cx="4816593" cy="4133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41335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41335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413351"/>
                    </a:lnTo>
                    <a:lnTo>
                      <a:pt x="0" y="413351"/>
                    </a:lnTo>
                    <a:close/>
                  </a:path>
                </a:pathLst>
              </a:custGeom>
              <a:solidFill>
                <a:srgbClr val="FFD67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4514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0" y="0"/>
              <a:ext cx="9753600" cy="2092591"/>
            </a:xfrm>
            <a:custGeom>
              <a:avLst/>
              <a:gdLst/>
              <a:ahLst/>
              <a:cxnLst/>
              <a:rect l="l" t="t" r="r" b="b"/>
              <a:pathLst>
                <a:path w="9753600" h="2092591">
                  <a:moveTo>
                    <a:pt x="0" y="0"/>
                  </a:moveTo>
                  <a:lnTo>
                    <a:pt x="9753600" y="0"/>
                  </a:lnTo>
                  <a:lnTo>
                    <a:pt x="9753600" y="2092591"/>
                  </a:lnTo>
                  <a:lnTo>
                    <a:pt x="0" y="2092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19507200" y="0"/>
              <a:ext cx="9753600" cy="2092591"/>
            </a:xfrm>
            <a:custGeom>
              <a:avLst/>
              <a:gdLst/>
              <a:ahLst/>
              <a:cxnLst/>
              <a:rect l="l" t="t" r="r" b="b"/>
              <a:pathLst>
                <a:path w="9753600" h="2092591">
                  <a:moveTo>
                    <a:pt x="0" y="0"/>
                  </a:moveTo>
                  <a:lnTo>
                    <a:pt x="9753600" y="0"/>
                  </a:lnTo>
                  <a:lnTo>
                    <a:pt x="9753600" y="2092591"/>
                  </a:lnTo>
                  <a:lnTo>
                    <a:pt x="0" y="2092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9753600" y="0"/>
              <a:ext cx="9753600" cy="2092591"/>
            </a:xfrm>
            <a:custGeom>
              <a:avLst/>
              <a:gdLst/>
              <a:ahLst/>
              <a:cxnLst/>
              <a:rect l="l" t="t" r="r" b="b"/>
              <a:pathLst>
                <a:path w="9753600" h="2092591">
                  <a:moveTo>
                    <a:pt x="0" y="0"/>
                  </a:moveTo>
                  <a:lnTo>
                    <a:pt x="9753600" y="0"/>
                  </a:lnTo>
                  <a:lnTo>
                    <a:pt x="9753600" y="2092591"/>
                  </a:lnTo>
                  <a:lnTo>
                    <a:pt x="0" y="2092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359143" y="-376389"/>
            <a:ext cx="2928857" cy="2810178"/>
            <a:chOff x="0" y="0"/>
            <a:chExt cx="3905143" cy="3746904"/>
          </a:xfrm>
        </p:grpSpPr>
        <p:grpSp>
          <p:nvGrpSpPr>
            <p:cNvPr id="10" name="Group 10"/>
            <p:cNvGrpSpPr/>
            <p:nvPr/>
          </p:nvGrpSpPr>
          <p:grpSpPr>
            <a:xfrm>
              <a:off x="3019656" y="0"/>
              <a:ext cx="885486" cy="3011111"/>
              <a:chOff x="0" y="0"/>
              <a:chExt cx="174911" cy="5947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74911" cy="594787"/>
              </a:xfrm>
              <a:custGeom>
                <a:avLst/>
                <a:gdLst/>
                <a:ahLst/>
                <a:cxnLst/>
                <a:rect l="l" t="t" r="r" b="b"/>
                <a:pathLst>
                  <a:path w="174911" h="594787">
                    <a:moveTo>
                      <a:pt x="87455" y="0"/>
                    </a:moveTo>
                    <a:lnTo>
                      <a:pt x="87455" y="0"/>
                    </a:lnTo>
                    <a:cubicBezTo>
                      <a:pt x="135756" y="0"/>
                      <a:pt x="174911" y="39155"/>
                      <a:pt x="174911" y="87455"/>
                    </a:cubicBezTo>
                    <a:lnTo>
                      <a:pt x="174911" y="507332"/>
                    </a:lnTo>
                    <a:cubicBezTo>
                      <a:pt x="174911" y="530526"/>
                      <a:pt x="165697" y="552771"/>
                      <a:pt x="149296" y="569172"/>
                    </a:cubicBezTo>
                    <a:cubicBezTo>
                      <a:pt x="132895" y="585573"/>
                      <a:pt x="110650" y="594787"/>
                      <a:pt x="87455" y="594787"/>
                    </a:cubicBezTo>
                    <a:lnTo>
                      <a:pt x="87455" y="594787"/>
                    </a:lnTo>
                    <a:cubicBezTo>
                      <a:pt x="39155" y="594787"/>
                      <a:pt x="0" y="555632"/>
                      <a:pt x="0" y="507332"/>
                    </a:cubicBezTo>
                    <a:lnTo>
                      <a:pt x="0" y="87455"/>
                    </a:lnTo>
                    <a:cubicBezTo>
                      <a:pt x="0" y="64261"/>
                      <a:pt x="9214" y="42016"/>
                      <a:pt x="25615" y="25615"/>
                    </a:cubicBezTo>
                    <a:cubicBezTo>
                      <a:pt x="42016" y="9214"/>
                      <a:pt x="64261" y="0"/>
                      <a:pt x="87455" y="0"/>
                    </a:cubicBezTo>
                    <a:close/>
                  </a:path>
                </a:pathLst>
              </a:custGeom>
              <a:solidFill>
                <a:srgbClr val="61C8A3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74911" cy="6328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507786" y="0"/>
              <a:ext cx="885486" cy="3746904"/>
              <a:chOff x="0" y="0"/>
              <a:chExt cx="174911" cy="7401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74911" cy="740129"/>
              </a:xfrm>
              <a:custGeom>
                <a:avLst/>
                <a:gdLst/>
                <a:ahLst/>
                <a:cxnLst/>
                <a:rect l="l" t="t" r="r" b="b"/>
                <a:pathLst>
                  <a:path w="174911" h="740129">
                    <a:moveTo>
                      <a:pt x="87455" y="0"/>
                    </a:moveTo>
                    <a:lnTo>
                      <a:pt x="87455" y="0"/>
                    </a:lnTo>
                    <a:cubicBezTo>
                      <a:pt x="135756" y="0"/>
                      <a:pt x="174911" y="39155"/>
                      <a:pt x="174911" y="87455"/>
                    </a:cubicBezTo>
                    <a:lnTo>
                      <a:pt x="174911" y="652674"/>
                    </a:lnTo>
                    <a:cubicBezTo>
                      <a:pt x="174911" y="675868"/>
                      <a:pt x="165697" y="698113"/>
                      <a:pt x="149296" y="714514"/>
                    </a:cubicBezTo>
                    <a:cubicBezTo>
                      <a:pt x="132895" y="730915"/>
                      <a:pt x="110650" y="740129"/>
                      <a:pt x="87455" y="740129"/>
                    </a:cubicBezTo>
                    <a:lnTo>
                      <a:pt x="87455" y="740129"/>
                    </a:lnTo>
                    <a:cubicBezTo>
                      <a:pt x="64261" y="740129"/>
                      <a:pt x="42016" y="730915"/>
                      <a:pt x="25615" y="714514"/>
                    </a:cubicBezTo>
                    <a:cubicBezTo>
                      <a:pt x="9214" y="698113"/>
                      <a:pt x="0" y="675868"/>
                      <a:pt x="0" y="652674"/>
                    </a:cubicBezTo>
                    <a:lnTo>
                      <a:pt x="0" y="87455"/>
                    </a:lnTo>
                    <a:cubicBezTo>
                      <a:pt x="0" y="64261"/>
                      <a:pt x="9214" y="42016"/>
                      <a:pt x="25615" y="25615"/>
                    </a:cubicBezTo>
                    <a:cubicBezTo>
                      <a:pt x="42016" y="9214"/>
                      <a:pt x="64261" y="0"/>
                      <a:pt x="8745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C584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74911" cy="7782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885486" cy="2098277"/>
              <a:chOff x="0" y="0"/>
              <a:chExt cx="174911" cy="414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74911" cy="414475"/>
              </a:xfrm>
              <a:custGeom>
                <a:avLst/>
                <a:gdLst/>
                <a:ahLst/>
                <a:cxnLst/>
                <a:rect l="l" t="t" r="r" b="b"/>
                <a:pathLst>
                  <a:path w="174911" h="414475">
                    <a:moveTo>
                      <a:pt x="87455" y="0"/>
                    </a:moveTo>
                    <a:lnTo>
                      <a:pt x="87455" y="0"/>
                    </a:lnTo>
                    <a:cubicBezTo>
                      <a:pt x="135756" y="0"/>
                      <a:pt x="174911" y="39155"/>
                      <a:pt x="174911" y="87455"/>
                    </a:cubicBezTo>
                    <a:lnTo>
                      <a:pt x="174911" y="327019"/>
                    </a:lnTo>
                    <a:cubicBezTo>
                      <a:pt x="174911" y="350214"/>
                      <a:pt x="165697" y="372458"/>
                      <a:pt x="149296" y="388859"/>
                    </a:cubicBezTo>
                    <a:cubicBezTo>
                      <a:pt x="132895" y="405261"/>
                      <a:pt x="110650" y="414475"/>
                      <a:pt x="87455" y="414475"/>
                    </a:cubicBezTo>
                    <a:lnTo>
                      <a:pt x="87455" y="414475"/>
                    </a:lnTo>
                    <a:cubicBezTo>
                      <a:pt x="39155" y="414475"/>
                      <a:pt x="0" y="375319"/>
                      <a:pt x="0" y="327019"/>
                    </a:cubicBezTo>
                    <a:lnTo>
                      <a:pt x="0" y="87455"/>
                    </a:lnTo>
                    <a:cubicBezTo>
                      <a:pt x="0" y="64261"/>
                      <a:pt x="9214" y="42016"/>
                      <a:pt x="25615" y="25615"/>
                    </a:cubicBezTo>
                    <a:cubicBezTo>
                      <a:pt x="42016" y="9214"/>
                      <a:pt x="64261" y="0"/>
                      <a:pt x="87455" y="0"/>
                    </a:cubicBezTo>
                    <a:close/>
                  </a:path>
                </a:pathLst>
              </a:custGeom>
              <a:solidFill>
                <a:srgbClr val="6C584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74911" cy="4525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0" y="-376389"/>
            <a:ext cx="2931920" cy="2810178"/>
            <a:chOff x="0" y="0"/>
            <a:chExt cx="3909226" cy="3746904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885486" cy="3011111"/>
              <a:chOff x="0" y="0"/>
              <a:chExt cx="174911" cy="59478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74911" cy="594787"/>
              </a:xfrm>
              <a:custGeom>
                <a:avLst/>
                <a:gdLst/>
                <a:ahLst/>
                <a:cxnLst/>
                <a:rect l="l" t="t" r="r" b="b"/>
                <a:pathLst>
                  <a:path w="174911" h="594787">
                    <a:moveTo>
                      <a:pt x="87455" y="0"/>
                    </a:moveTo>
                    <a:lnTo>
                      <a:pt x="87455" y="0"/>
                    </a:lnTo>
                    <a:cubicBezTo>
                      <a:pt x="135756" y="0"/>
                      <a:pt x="174911" y="39155"/>
                      <a:pt x="174911" y="87455"/>
                    </a:cubicBezTo>
                    <a:lnTo>
                      <a:pt x="174911" y="507332"/>
                    </a:lnTo>
                    <a:cubicBezTo>
                      <a:pt x="174911" y="530526"/>
                      <a:pt x="165697" y="552771"/>
                      <a:pt x="149296" y="569172"/>
                    </a:cubicBezTo>
                    <a:cubicBezTo>
                      <a:pt x="132895" y="585573"/>
                      <a:pt x="110650" y="594787"/>
                      <a:pt x="87455" y="594787"/>
                    </a:cubicBezTo>
                    <a:lnTo>
                      <a:pt x="87455" y="594787"/>
                    </a:lnTo>
                    <a:cubicBezTo>
                      <a:pt x="39155" y="594787"/>
                      <a:pt x="0" y="555632"/>
                      <a:pt x="0" y="507332"/>
                    </a:cubicBezTo>
                    <a:lnTo>
                      <a:pt x="0" y="87455"/>
                    </a:lnTo>
                    <a:cubicBezTo>
                      <a:pt x="0" y="64261"/>
                      <a:pt x="9214" y="42016"/>
                      <a:pt x="25615" y="25615"/>
                    </a:cubicBezTo>
                    <a:cubicBezTo>
                      <a:pt x="42016" y="9214"/>
                      <a:pt x="64261" y="0"/>
                      <a:pt x="87455" y="0"/>
                    </a:cubicBezTo>
                    <a:close/>
                  </a:path>
                </a:pathLst>
              </a:custGeom>
              <a:solidFill>
                <a:srgbClr val="61C8A3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74911" cy="6328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511870" y="0"/>
              <a:ext cx="885486" cy="3746904"/>
              <a:chOff x="0" y="0"/>
              <a:chExt cx="174911" cy="74012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74911" cy="740129"/>
              </a:xfrm>
              <a:custGeom>
                <a:avLst/>
                <a:gdLst/>
                <a:ahLst/>
                <a:cxnLst/>
                <a:rect l="l" t="t" r="r" b="b"/>
                <a:pathLst>
                  <a:path w="174911" h="740129">
                    <a:moveTo>
                      <a:pt x="87455" y="0"/>
                    </a:moveTo>
                    <a:lnTo>
                      <a:pt x="87455" y="0"/>
                    </a:lnTo>
                    <a:cubicBezTo>
                      <a:pt x="135756" y="0"/>
                      <a:pt x="174911" y="39155"/>
                      <a:pt x="174911" y="87455"/>
                    </a:cubicBezTo>
                    <a:lnTo>
                      <a:pt x="174911" y="652674"/>
                    </a:lnTo>
                    <a:cubicBezTo>
                      <a:pt x="174911" y="675868"/>
                      <a:pt x="165697" y="698113"/>
                      <a:pt x="149296" y="714514"/>
                    </a:cubicBezTo>
                    <a:cubicBezTo>
                      <a:pt x="132895" y="730915"/>
                      <a:pt x="110650" y="740129"/>
                      <a:pt x="87455" y="740129"/>
                    </a:cubicBezTo>
                    <a:lnTo>
                      <a:pt x="87455" y="740129"/>
                    </a:lnTo>
                    <a:cubicBezTo>
                      <a:pt x="64261" y="740129"/>
                      <a:pt x="42016" y="730915"/>
                      <a:pt x="25615" y="714514"/>
                    </a:cubicBezTo>
                    <a:cubicBezTo>
                      <a:pt x="9214" y="698113"/>
                      <a:pt x="0" y="675868"/>
                      <a:pt x="0" y="652674"/>
                    </a:cubicBezTo>
                    <a:lnTo>
                      <a:pt x="0" y="87455"/>
                    </a:lnTo>
                    <a:cubicBezTo>
                      <a:pt x="0" y="64261"/>
                      <a:pt x="9214" y="42016"/>
                      <a:pt x="25615" y="25615"/>
                    </a:cubicBezTo>
                    <a:cubicBezTo>
                      <a:pt x="42016" y="9214"/>
                      <a:pt x="64261" y="0"/>
                      <a:pt x="8745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6C584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74911" cy="7782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023740" y="0"/>
              <a:ext cx="885486" cy="2098277"/>
              <a:chOff x="0" y="0"/>
              <a:chExt cx="174911" cy="41447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74911" cy="414475"/>
              </a:xfrm>
              <a:custGeom>
                <a:avLst/>
                <a:gdLst/>
                <a:ahLst/>
                <a:cxnLst/>
                <a:rect l="l" t="t" r="r" b="b"/>
                <a:pathLst>
                  <a:path w="174911" h="414475">
                    <a:moveTo>
                      <a:pt x="87455" y="0"/>
                    </a:moveTo>
                    <a:lnTo>
                      <a:pt x="87455" y="0"/>
                    </a:lnTo>
                    <a:cubicBezTo>
                      <a:pt x="135756" y="0"/>
                      <a:pt x="174911" y="39155"/>
                      <a:pt x="174911" y="87455"/>
                    </a:cubicBezTo>
                    <a:lnTo>
                      <a:pt x="174911" y="327019"/>
                    </a:lnTo>
                    <a:cubicBezTo>
                      <a:pt x="174911" y="350214"/>
                      <a:pt x="165697" y="372458"/>
                      <a:pt x="149296" y="388859"/>
                    </a:cubicBezTo>
                    <a:cubicBezTo>
                      <a:pt x="132895" y="405261"/>
                      <a:pt x="110650" y="414475"/>
                      <a:pt x="87455" y="414475"/>
                    </a:cubicBezTo>
                    <a:lnTo>
                      <a:pt x="87455" y="414475"/>
                    </a:lnTo>
                    <a:cubicBezTo>
                      <a:pt x="39155" y="414475"/>
                      <a:pt x="0" y="375319"/>
                      <a:pt x="0" y="327019"/>
                    </a:cubicBezTo>
                    <a:lnTo>
                      <a:pt x="0" y="87455"/>
                    </a:lnTo>
                    <a:cubicBezTo>
                      <a:pt x="0" y="64261"/>
                      <a:pt x="9214" y="42016"/>
                      <a:pt x="25615" y="25615"/>
                    </a:cubicBezTo>
                    <a:cubicBezTo>
                      <a:pt x="42016" y="9214"/>
                      <a:pt x="64261" y="0"/>
                      <a:pt x="87455" y="0"/>
                    </a:cubicBezTo>
                    <a:close/>
                  </a:path>
                </a:pathLst>
              </a:custGeom>
              <a:solidFill>
                <a:srgbClr val="6C584C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74911" cy="4525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72634" y="342900"/>
            <a:ext cx="4945794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OVERVIEW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68431" y="1670457"/>
            <a:ext cx="7354201" cy="6546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6840" lvl="1" indent="-448420" algn="just">
              <a:lnSpc>
                <a:spcPts val="8307"/>
              </a:lnSpc>
              <a:buFont typeface="Arial"/>
              <a:buChar char="•"/>
            </a:pPr>
            <a:r>
              <a:rPr lang="en-US" sz="4153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Objectives</a:t>
            </a:r>
          </a:p>
          <a:p>
            <a:pPr marL="896840" lvl="1" indent="-448420" algn="just">
              <a:lnSpc>
                <a:spcPts val="10384"/>
              </a:lnSpc>
              <a:buFont typeface="Arial"/>
              <a:buChar char="•"/>
            </a:pPr>
            <a:r>
              <a:rPr lang="en-US" sz="4153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Block Diagram</a:t>
            </a:r>
          </a:p>
          <a:p>
            <a:pPr marL="896840" lvl="1" indent="-448420" algn="just">
              <a:lnSpc>
                <a:spcPts val="8307"/>
              </a:lnSpc>
              <a:buFont typeface="Arial"/>
              <a:buChar char="•"/>
            </a:pPr>
            <a:r>
              <a:rPr lang="en-US" sz="4153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Circuit Diagram</a:t>
            </a:r>
          </a:p>
          <a:p>
            <a:pPr marL="896840" lvl="1" indent="-448420" algn="just">
              <a:lnSpc>
                <a:spcPts val="8307"/>
              </a:lnSpc>
              <a:buFont typeface="Arial"/>
              <a:buChar char="•"/>
            </a:pPr>
            <a:r>
              <a:rPr lang="en-US" sz="4153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Design</a:t>
            </a:r>
          </a:p>
          <a:p>
            <a:pPr marL="896840" lvl="1" indent="-448420" algn="just">
              <a:lnSpc>
                <a:spcPts val="8307"/>
              </a:lnSpc>
              <a:buFont typeface="Arial"/>
              <a:buChar char="•"/>
            </a:pPr>
            <a:r>
              <a:rPr lang="en-US" sz="4153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Analysis</a:t>
            </a:r>
          </a:p>
          <a:p>
            <a:pPr marL="896840" lvl="1" indent="-448420" algn="just">
              <a:lnSpc>
                <a:spcPts val="8307"/>
              </a:lnSpc>
              <a:buFont typeface="Arial"/>
              <a:buChar char="•"/>
            </a:pPr>
            <a:r>
              <a:rPr lang="en-US" sz="4153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607629"/>
            <a:ext cx="664115" cy="1573708"/>
            <a:chOff x="0" y="0"/>
            <a:chExt cx="174911" cy="414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911" cy="414475"/>
            </a:xfrm>
            <a:custGeom>
              <a:avLst/>
              <a:gdLst/>
              <a:ahLst/>
              <a:cxnLst/>
              <a:rect l="l" t="t" r="r" b="b"/>
              <a:pathLst>
                <a:path w="174911" h="414475">
                  <a:moveTo>
                    <a:pt x="87455" y="0"/>
                  </a:moveTo>
                  <a:lnTo>
                    <a:pt x="87455" y="0"/>
                  </a:lnTo>
                  <a:cubicBezTo>
                    <a:pt x="135756" y="0"/>
                    <a:pt x="174911" y="39155"/>
                    <a:pt x="174911" y="87455"/>
                  </a:cubicBezTo>
                  <a:lnTo>
                    <a:pt x="174911" y="327019"/>
                  </a:lnTo>
                  <a:cubicBezTo>
                    <a:pt x="174911" y="350214"/>
                    <a:pt x="165697" y="372458"/>
                    <a:pt x="149296" y="388859"/>
                  </a:cubicBezTo>
                  <a:cubicBezTo>
                    <a:pt x="132895" y="405261"/>
                    <a:pt x="110650" y="414475"/>
                    <a:pt x="87455" y="414475"/>
                  </a:cubicBezTo>
                  <a:lnTo>
                    <a:pt x="87455" y="414475"/>
                  </a:lnTo>
                  <a:cubicBezTo>
                    <a:pt x="39155" y="414475"/>
                    <a:pt x="0" y="375319"/>
                    <a:pt x="0" y="327019"/>
                  </a:cubicBezTo>
                  <a:lnTo>
                    <a:pt x="0" y="87455"/>
                  </a:lnTo>
                  <a:cubicBezTo>
                    <a:pt x="0" y="64261"/>
                    <a:pt x="9214" y="42016"/>
                    <a:pt x="25615" y="25615"/>
                  </a:cubicBezTo>
                  <a:cubicBezTo>
                    <a:pt x="42016" y="9214"/>
                    <a:pt x="64261" y="0"/>
                    <a:pt x="87455" y="0"/>
                  </a:cubicBezTo>
                  <a:close/>
                </a:path>
              </a:pathLst>
            </a:custGeom>
            <a:solidFill>
              <a:srgbClr val="6C584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4911" cy="4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658643" y="5930175"/>
            <a:ext cx="629357" cy="3846073"/>
          </a:xfrm>
          <a:custGeom>
            <a:avLst/>
            <a:gdLst/>
            <a:ahLst/>
            <a:cxnLst/>
            <a:rect l="l" t="t" r="r" b="b"/>
            <a:pathLst>
              <a:path w="629357" h="3846073">
                <a:moveTo>
                  <a:pt x="0" y="0"/>
                </a:moveTo>
                <a:lnTo>
                  <a:pt x="629357" y="0"/>
                </a:lnTo>
                <a:lnTo>
                  <a:pt x="629357" y="3846073"/>
                </a:lnTo>
                <a:lnTo>
                  <a:pt x="0" y="38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606445" y="800100"/>
            <a:ext cx="7075109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9009" y="1903164"/>
            <a:ext cx="16507824" cy="787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4195" lvl="1" indent="-392097" algn="just">
              <a:lnSpc>
                <a:spcPts val="9080"/>
              </a:lnSpc>
              <a:buFont typeface="Arial"/>
              <a:buChar char="•"/>
            </a:pPr>
            <a:r>
              <a:rPr lang="en-US" sz="3632" spc="3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To develop a digital locking system using only digital logic circuits</a:t>
            </a:r>
          </a:p>
          <a:p>
            <a:pPr marL="784195" lvl="1" indent="-392097" algn="just">
              <a:lnSpc>
                <a:spcPts val="9080"/>
              </a:lnSpc>
              <a:buFont typeface="Arial"/>
              <a:buChar char="•"/>
            </a:pPr>
            <a:r>
              <a:rPr lang="en-US" sz="3632" spc="3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To integrate a keypad for password entry</a:t>
            </a:r>
          </a:p>
          <a:p>
            <a:pPr marL="784195" lvl="1" indent="-392097" algn="just">
              <a:lnSpc>
                <a:spcPts val="9080"/>
              </a:lnSpc>
              <a:buFont typeface="Arial"/>
              <a:buChar char="•"/>
            </a:pPr>
            <a:r>
              <a:rPr lang="en-US" sz="3632" spc="3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To make the saved password customizable </a:t>
            </a:r>
          </a:p>
          <a:p>
            <a:pPr marL="805784" lvl="1" indent="-402892" algn="just">
              <a:lnSpc>
                <a:spcPts val="9330"/>
              </a:lnSpc>
              <a:buFont typeface="Arial"/>
              <a:buChar char="•"/>
            </a:pPr>
            <a:r>
              <a:rPr lang="en-US" sz="3732" spc="41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To provide visual and audio indication for password verification</a:t>
            </a:r>
          </a:p>
          <a:p>
            <a:pPr marL="784195" lvl="1" indent="-392097" algn="just">
              <a:lnSpc>
                <a:spcPts val="9080"/>
              </a:lnSpc>
              <a:buFont typeface="Arial"/>
              <a:buChar char="•"/>
            </a:pPr>
            <a:r>
              <a:rPr lang="en-US" sz="3632" spc="3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To test logic sequence, reset, and correct code detection mechanisms.</a:t>
            </a:r>
          </a:p>
          <a:p>
            <a:pPr algn="just">
              <a:lnSpc>
                <a:spcPts val="6901"/>
              </a:lnSpc>
            </a:pPr>
            <a:endParaRPr lang="en-US" sz="3632" spc="39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74352" y="1788838"/>
            <a:ext cx="13539297" cy="6709325"/>
          </a:xfrm>
          <a:custGeom>
            <a:avLst/>
            <a:gdLst/>
            <a:ahLst/>
            <a:cxnLst/>
            <a:rect l="l" t="t" r="r" b="b"/>
            <a:pathLst>
              <a:path w="13539297" h="6709325">
                <a:moveTo>
                  <a:pt x="0" y="0"/>
                </a:moveTo>
                <a:lnTo>
                  <a:pt x="13539296" y="0"/>
                </a:lnTo>
                <a:lnTo>
                  <a:pt x="13539296" y="6709324"/>
                </a:lnTo>
                <a:lnTo>
                  <a:pt x="0" y="6709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299591" y="342900"/>
            <a:ext cx="697783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BLOCK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491723"/>
            <a:ext cx="18288000" cy="6766577"/>
          </a:xfrm>
          <a:custGeom>
            <a:avLst/>
            <a:gdLst/>
            <a:ahLst/>
            <a:cxnLst/>
            <a:rect l="l" t="t" r="r" b="b"/>
            <a:pathLst>
              <a:path w="18288000" h="6766577">
                <a:moveTo>
                  <a:pt x="0" y="0"/>
                </a:moveTo>
                <a:lnTo>
                  <a:pt x="18288000" y="0"/>
                </a:lnTo>
                <a:lnTo>
                  <a:pt x="18288000" y="6766577"/>
                </a:lnTo>
                <a:lnTo>
                  <a:pt x="0" y="6766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" t="-100" r="-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342900"/>
            <a:ext cx="7555346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CIRCUIT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607629"/>
            <a:ext cx="664115" cy="1573708"/>
            <a:chOff x="0" y="0"/>
            <a:chExt cx="174911" cy="414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911" cy="414475"/>
            </a:xfrm>
            <a:custGeom>
              <a:avLst/>
              <a:gdLst/>
              <a:ahLst/>
              <a:cxnLst/>
              <a:rect l="l" t="t" r="r" b="b"/>
              <a:pathLst>
                <a:path w="174911" h="414475">
                  <a:moveTo>
                    <a:pt x="87455" y="0"/>
                  </a:moveTo>
                  <a:lnTo>
                    <a:pt x="87455" y="0"/>
                  </a:lnTo>
                  <a:cubicBezTo>
                    <a:pt x="135756" y="0"/>
                    <a:pt x="174911" y="39155"/>
                    <a:pt x="174911" y="87455"/>
                  </a:cubicBezTo>
                  <a:lnTo>
                    <a:pt x="174911" y="327019"/>
                  </a:lnTo>
                  <a:cubicBezTo>
                    <a:pt x="174911" y="350214"/>
                    <a:pt x="165697" y="372458"/>
                    <a:pt x="149296" y="388859"/>
                  </a:cubicBezTo>
                  <a:cubicBezTo>
                    <a:pt x="132895" y="405261"/>
                    <a:pt x="110650" y="414475"/>
                    <a:pt x="87455" y="414475"/>
                  </a:cubicBezTo>
                  <a:lnTo>
                    <a:pt x="87455" y="414475"/>
                  </a:lnTo>
                  <a:cubicBezTo>
                    <a:pt x="39155" y="414475"/>
                    <a:pt x="0" y="375319"/>
                    <a:pt x="0" y="327019"/>
                  </a:cubicBezTo>
                  <a:lnTo>
                    <a:pt x="0" y="87455"/>
                  </a:lnTo>
                  <a:cubicBezTo>
                    <a:pt x="0" y="64261"/>
                    <a:pt x="9214" y="42016"/>
                    <a:pt x="25615" y="25615"/>
                  </a:cubicBezTo>
                  <a:cubicBezTo>
                    <a:pt x="42016" y="9214"/>
                    <a:pt x="64261" y="0"/>
                    <a:pt x="87455" y="0"/>
                  </a:cubicBezTo>
                  <a:close/>
                </a:path>
              </a:pathLst>
            </a:custGeom>
            <a:solidFill>
              <a:srgbClr val="6C584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4911" cy="4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333275" y="342900"/>
            <a:ext cx="7075109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4115" y="1226697"/>
            <a:ext cx="16922350" cy="8031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5"/>
              </a:lnSpc>
            </a:pPr>
            <a:r>
              <a:rPr lang="en-US" sz="3029" b="1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Procedure:</a:t>
            </a:r>
          </a:p>
          <a:p>
            <a:pPr marL="654042" lvl="1" indent="-327021" algn="just">
              <a:lnSpc>
                <a:spcPts val="5755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When a button is pressed, it provides an active-low signal to a priority encoder. To work with active-high logic, NOT gates are placed at both the input and output of the encoder.</a:t>
            </a:r>
          </a:p>
          <a:p>
            <a:pPr algn="just">
              <a:lnSpc>
                <a:spcPts val="5755"/>
              </a:lnSpc>
            </a:pPr>
            <a:endParaRPr lang="en-US" sz="3029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marL="654042" lvl="1" indent="-327021" algn="just">
              <a:lnSpc>
                <a:spcPts val="5755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An Enter button with a demultiplexer switches between password set mode and unlock mode, storing the 4-bit binary input in shift registers</a:t>
            </a:r>
          </a:p>
          <a:p>
            <a:pPr algn="just">
              <a:lnSpc>
                <a:spcPts val="5755"/>
              </a:lnSpc>
            </a:pPr>
            <a:endParaRPr lang="en-US" sz="3029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marL="654042" lvl="1" indent="-327021" algn="just">
              <a:lnSpc>
                <a:spcPts val="5755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D flip-flop, configured as a counter, works with the demultiplexer to automatically route each entered digit to the next shift register in sequence.</a:t>
            </a:r>
          </a:p>
          <a:p>
            <a:pPr algn="just">
              <a:lnSpc>
                <a:spcPts val="5755"/>
              </a:lnSpc>
            </a:pPr>
            <a:endParaRPr lang="en-US" sz="3029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607629"/>
            <a:ext cx="664115" cy="1573708"/>
            <a:chOff x="0" y="0"/>
            <a:chExt cx="174911" cy="414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911" cy="414475"/>
            </a:xfrm>
            <a:custGeom>
              <a:avLst/>
              <a:gdLst/>
              <a:ahLst/>
              <a:cxnLst/>
              <a:rect l="l" t="t" r="r" b="b"/>
              <a:pathLst>
                <a:path w="174911" h="414475">
                  <a:moveTo>
                    <a:pt x="87455" y="0"/>
                  </a:moveTo>
                  <a:lnTo>
                    <a:pt x="87455" y="0"/>
                  </a:lnTo>
                  <a:cubicBezTo>
                    <a:pt x="135756" y="0"/>
                    <a:pt x="174911" y="39155"/>
                    <a:pt x="174911" y="87455"/>
                  </a:cubicBezTo>
                  <a:lnTo>
                    <a:pt x="174911" y="327019"/>
                  </a:lnTo>
                  <a:cubicBezTo>
                    <a:pt x="174911" y="350214"/>
                    <a:pt x="165697" y="372458"/>
                    <a:pt x="149296" y="388859"/>
                  </a:cubicBezTo>
                  <a:cubicBezTo>
                    <a:pt x="132895" y="405261"/>
                    <a:pt x="110650" y="414475"/>
                    <a:pt x="87455" y="414475"/>
                  </a:cubicBezTo>
                  <a:lnTo>
                    <a:pt x="87455" y="414475"/>
                  </a:lnTo>
                  <a:cubicBezTo>
                    <a:pt x="39155" y="414475"/>
                    <a:pt x="0" y="375319"/>
                    <a:pt x="0" y="327019"/>
                  </a:cubicBezTo>
                  <a:lnTo>
                    <a:pt x="0" y="87455"/>
                  </a:lnTo>
                  <a:cubicBezTo>
                    <a:pt x="0" y="64261"/>
                    <a:pt x="9214" y="42016"/>
                    <a:pt x="25615" y="25615"/>
                  </a:cubicBezTo>
                  <a:cubicBezTo>
                    <a:pt x="42016" y="9214"/>
                    <a:pt x="64261" y="0"/>
                    <a:pt x="87455" y="0"/>
                  </a:cubicBezTo>
                  <a:close/>
                </a:path>
              </a:pathLst>
            </a:custGeom>
            <a:solidFill>
              <a:srgbClr val="6C584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4911" cy="4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333275" y="342900"/>
            <a:ext cx="7075109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2057" y="1226697"/>
            <a:ext cx="17500167" cy="11579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6"/>
              </a:lnSpc>
            </a:pPr>
            <a:r>
              <a:rPr lang="en-US" sz="3029" b="1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Procedure:</a:t>
            </a:r>
          </a:p>
          <a:p>
            <a:pPr marL="654177" lvl="1" indent="-327088" algn="just">
              <a:lnSpc>
                <a:spcPts val="5756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The core authentication is handled by 4-bit magnitude comparators. These ICs compare the binary value from the "user input" registers against the "saved password" registers (B inputs)</a:t>
            </a:r>
          </a:p>
          <a:p>
            <a:pPr algn="just">
              <a:lnSpc>
                <a:spcPts val="5756"/>
              </a:lnSpc>
            </a:pPr>
            <a:endParaRPr lang="en-US" sz="3029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marL="654177" lvl="1" indent="-327088" algn="just">
              <a:lnSpc>
                <a:spcPts val="5756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Correct Password: A 4-input AND gate is connected to the A=B outputs of all comparators. If all digits match, this gate's output goes HIGH, which turns on the green led</a:t>
            </a:r>
          </a:p>
          <a:p>
            <a:pPr algn="just">
              <a:lnSpc>
                <a:spcPts val="5756"/>
              </a:lnSpc>
            </a:pPr>
            <a:endParaRPr lang="en-US" sz="3029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marL="654177" lvl="1" indent="-327088" algn="just">
              <a:lnSpc>
                <a:spcPts val="5756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Incorrect Password: An 8-input OR gate is connected to all A&gt;B and A&lt;B outputs of the comparators. If any digit is mismatched, this gate's output goes HIGH, which activates the red LED and the buzzer.</a:t>
            </a:r>
          </a:p>
          <a:p>
            <a:pPr algn="just">
              <a:lnSpc>
                <a:spcPts val="5756"/>
              </a:lnSpc>
            </a:pPr>
            <a:endParaRPr lang="en-US" sz="3029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5756"/>
              </a:lnSpc>
            </a:pPr>
            <a:endParaRPr lang="en-US" sz="3029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5756"/>
              </a:lnSpc>
            </a:pPr>
            <a:endParaRPr lang="en-US" sz="3029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5756"/>
              </a:lnSpc>
            </a:pPr>
            <a:endParaRPr lang="en-US" sz="3029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9607629"/>
            <a:ext cx="664115" cy="1573708"/>
            <a:chOff x="0" y="0"/>
            <a:chExt cx="174911" cy="414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911" cy="414475"/>
            </a:xfrm>
            <a:custGeom>
              <a:avLst/>
              <a:gdLst/>
              <a:ahLst/>
              <a:cxnLst/>
              <a:rect l="l" t="t" r="r" b="b"/>
              <a:pathLst>
                <a:path w="174911" h="414475">
                  <a:moveTo>
                    <a:pt x="87455" y="0"/>
                  </a:moveTo>
                  <a:lnTo>
                    <a:pt x="87455" y="0"/>
                  </a:lnTo>
                  <a:cubicBezTo>
                    <a:pt x="135756" y="0"/>
                    <a:pt x="174911" y="39155"/>
                    <a:pt x="174911" y="87455"/>
                  </a:cubicBezTo>
                  <a:lnTo>
                    <a:pt x="174911" y="327019"/>
                  </a:lnTo>
                  <a:cubicBezTo>
                    <a:pt x="174911" y="350214"/>
                    <a:pt x="165697" y="372458"/>
                    <a:pt x="149296" y="388859"/>
                  </a:cubicBezTo>
                  <a:cubicBezTo>
                    <a:pt x="132895" y="405261"/>
                    <a:pt x="110650" y="414475"/>
                    <a:pt x="87455" y="414475"/>
                  </a:cubicBezTo>
                  <a:lnTo>
                    <a:pt x="87455" y="414475"/>
                  </a:lnTo>
                  <a:cubicBezTo>
                    <a:pt x="39155" y="414475"/>
                    <a:pt x="0" y="375319"/>
                    <a:pt x="0" y="327019"/>
                  </a:cubicBezTo>
                  <a:lnTo>
                    <a:pt x="0" y="87455"/>
                  </a:lnTo>
                  <a:cubicBezTo>
                    <a:pt x="0" y="64261"/>
                    <a:pt x="9214" y="42016"/>
                    <a:pt x="25615" y="25615"/>
                  </a:cubicBezTo>
                  <a:cubicBezTo>
                    <a:pt x="42016" y="9214"/>
                    <a:pt x="64261" y="0"/>
                    <a:pt x="87455" y="0"/>
                  </a:cubicBezTo>
                  <a:close/>
                </a:path>
              </a:pathLst>
            </a:custGeom>
            <a:solidFill>
              <a:srgbClr val="6C584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4911" cy="452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668168" y="5930175"/>
            <a:ext cx="629357" cy="3846073"/>
          </a:xfrm>
          <a:custGeom>
            <a:avLst/>
            <a:gdLst/>
            <a:ahLst/>
            <a:cxnLst/>
            <a:rect l="l" t="t" r="r" b="b"/>
            <a:pathLst>
              <a:path w="629357" h="3846073">
                <a:moveTo>
                  <a:pt x="0" y="0"/>
                </a:moveTo>
                <a:lnTo>
                  <a:pt x="629357" y="0"/>
                </a:lnTo>
                <a:lnTo>
                  <a:pt x="629357" y="3846073"/>
                </a:lnTo>
                <a:lnTo>
                  <a:pt x="0" y="384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615366" y="342900"/>
            <a:ext cx="7075109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129869"/>
            <a:ext cx="16230600" cy="985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58"/>
              </a:lnSpc>
            </a:pPr>
            <a:r>
              <a:rPr lang="en-US" sz="2925" b="1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Choice of Components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Push Buttons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74147 – 10-to-4 Line Encoder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74194 – 4-Bit Bidirectional Shift Register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4013 – D-Type Flip-Flop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4555 – Dual 1-to-4 Decoder/Demultiplexer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AND Gates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OR Gates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NOT Gates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7485 – 4-Bit Magnitude Comparator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Green LED</a:t>
            </a:r>
          </a:p>
          <a:p>
            <a:pPr marL="631569" lvl="1" indent="-315785" algn="just">
              <a:lnSpc>
                <a:spcPts val="5558"/>
              </a:lnSpc>
              <a:buAutoNum type="arabicPeriod"/>
            </a:pPr>
            <a:r>
              <a:rPr lang="en-US" sz="2925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Red LED</a:t>
            </a:r>
          </a:p>
          <a:p>
            <a:pPr algn="just">
              <a:lnSpc>
                <a:spcPts val="5558"/>
              </a:lnSpc>
            </a:pPr>
            <a:endParaRPr lang="en-US" sz="2925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5558"/>
              </a:lnSpc>
            </a:pPr>
            <a:endParaRPr lang="en-US" sz="2925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42900"/>
            <a:ext cx="7555346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3865" y="1715638"/>
            <a:ext cx="17804135" cy="751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 b="1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Keypad &amp; Encoder:</a:t>
            </a:r>
            <a:r>
              <a:rPr lang="en-US" sz="3031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 User presses a button (e.g., ‘8’) → Encoder outputs 4-bit binary 1000.</a:t>
            </a:r>
          </a:p>
          <a:p>
            <a:pPr algn="l">
              <a:lnSpc>
                <a:spcPts val="4244"/>
              </a:lnSpc>
              <a:spcBef>
                <a:spcPct val="0"/>
              </a:spcBef>
            </a:pPr>
            <a:endParaRPr lang="en-US" sz="3031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 b="1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Reset Function:</a:t>
            </a:r>
          </a:p>
          <a:p>
            <a:pPr marL="654515" lvl="1" indent="-327258" algn="l">
              <a:lnSpc>
                <a:spcPts val="4244"/>
              </a:lnSpc>
              <a:spcBef>
                <a:spcPct val="0"/>
              </a:spcBef>
              <a:buFont typeface="Arial"/>
              <a:buChar char="•"/>
            </a:pPr>
            <a:r>
              <a:rPr lang="en-US" sz="3031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Reset button clears user input shift registers → system ready for retry.</a:t>
            </a:r>
          </a:p>
          <a:p>
            <a:pPr algn="l">
              <a:lnSpc>
                <a:spcPts val="4244"/>
              </a:lnSpc>
            </a:pPr>
            <a:endParaRPr lang="en-US" sz="3031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 b="1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Comparator Stage:</a:t>
            </a:r>
          </a:p>
          <a:p>
            <a:pPr marL="654515" lvl="1" indent="-327258" algn="l">
              <a:lnSpc>
                <a:spcPts val="4244"/>
              </a:lnSpc>
              <a:buFont typeface="Arial"/>
              <a:buChar char="•"/>
            </a:pPr>
            <a:r>
              <a:rPr lang="en-US" sz="3031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A inputs = User-entered digits.</a:t>
            </a:r>
          </a:p>
          <a:p>
            <a:pPr marL="654515" lvl="1" indent="-327258" algn="l">
              <a:lnSpc>
                <a:spcPts val="4244"/>
              </a:lnSpc>
              <a:buFont typeface="Arial"/>
              <a:buChar char="•"/>
            </a:pPr>
            <a:r>
              <a:rPr lang="en-US" sz="3031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B inputs = Saved password digits.</a:t>
            </a:r>
          </a:p>
          <a:p>
            <a:pPr algn="ctr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If match → A=B = HIGH; </a:t>
            </a:r>
          </a:p>
          <a:p>
            <a:pPr algn="ctr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If mismatch → A&lt;B or A&gt;B = HIGH.</a:t>
            </a:r>
          </a:p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 b="1">
                <a:solidFill>
                  <a:srgbClr val="000000"/>
                </a:solidFill>
                <a:latin typeface="Luciole Bold"/>
                <a:ea typeface="Luciole Bold"/>
                <a:cs typeface="Luciole Bold"/>
                <a:sym typeface="Luciole Bold"/>
              </a:rPr>
              <a:t>Final Logic Output:</a:t>
            </a:r>
          </a:p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Correct Password: All A=B HIGH → 4-input AND → Green LED </a:t>
            </a:r>
          </a:p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Incorrect Password: Any mismatch → 8-input OR → Red LED </a:t>
            </a:r>
          </a:p>
          <a:p>
            <a:pPr algn="l">
              <a:lnSpc>
                <a:spcPts val="4244"/>
              </a:lnSpc>
              <a:spcBef>
                <a:spcPct val="0"/>
              </a:spcBef>
            </a:pPr>
            <a:endParaRPr lang="en-US" sz="3031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45685" y="0"/>
            <a:ext cx="2074385" cy="10287000"/>
            <a:chOff x="0" y="0"/>
            <a:chExt cx="54634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6340" cy="2709333"/>
            </a:xfrm>
            <a:custGeom>
              <a:avLst/>
              <a:gdLst/>
              <a:ahLst/>
              <a:cxnLst/>
              <a:rect l="l" t="t" r="r" b="b"/>
              <a:pathLst>
                <a:path w="546340" h="2709333">
                  <a:moveTo>
                    <a:pt x="0" y="0"/>
                  </a:moveTo>
                  <a:lnTo>
                    <a:pt x="546340" y="0"/>
                  </a:lnTo>
                  <a:lnTo>
                    <a:pt x="5463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1C8A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634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89066" y="342900"/>
            <a:ext cx="5474948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9066" y="1701264"/>
            <a:ext cx="16300468" cy="925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 [1] S. H. Kumar, Electronics Project, vol. 15: Programmable Number Lock.</a:t>
            </a:r>
          </a:p>
          <a:p>
            <a:pPr algn="just">
              <a:lnSpc>
                <a:spcPts val="3153"/>
              </a:lnSpc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[2] “GSM Based Digital Door Lock Security System,” in 2015 IEEE International Conference on Power, Instrumentation, Control and Computing (PICC), 2015.</a:t>
            </a:r>
          </a:p>
          <a:p>
            <a:pPr algn="just">
              <a:lnSpc>
                <a:spcPts val="3153"/>
              </a:lnSpc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[3] “A Practical Digital Door Lock for Smart Home,” in 2018 IEEE International Conference on Consumer Electronics (ICCE), 2018.</a:t>
            </a:r>
          </a:p>
          <a:p>
            <a:pPr algn="just">
              <a:lnSpc>
                <a:spcPts val="3153"/>
              </a:lnSpc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[4] “The Design and Construction of a 2-Digit Electronic Lock System Using Simple Circuit Elements and Digital Electronic Logic Gates,” ResearchGate, Mar. 15, 2017.</a:t>
            </a:r>
          </a:p>
          <a:p>
            <a:pPr algn="just">
              <a:lnSpc>
                <a:spcPts val="3153"/>
              </a:lnSpc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[5] “Simple Combination Lock,” All About Circuits. [Online]. Available: https://www.allaboutcircuits.com/textbook/experiments/chpt-7/simple-combination-lock/.</a:t>
            </a:r>
          </a:p>
          <a:p>
            <a:pPr algn="just">
              <a:lnSpc>
                <a:spcPts val="3153"/>
              </a:lnSpc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[6] “Electronic Code Lock System Using IC,” Instructables. [Online]. Available: </a:t>
            </a:r>
            <a:r>
              <a:rPr lang="en-US" sz="2252" u="sng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  <a:hlinkClick r:id="rId2" tooltip="https://www.instructables.com/Electronic-Code-Lock-System-Using-IC/"/>
              </a:rPr>
              <a:t>https://www.instructables.com/Electronic-Code-Lock-System-Using-IC/</a:t>
            </a:r>
            <a:r>
              <a:rPr lang="en-US" sz="2252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.</a:t>
            </a:r>
          </a:p>
          <a:p>
            <a:pPr algn="just">
              <a:lnSpc>
                <a:spcPts val="3153"/>
              </a:lnSpc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[7] “Digital Code Lock Circuit Without Microcontroller,” Gadgetronicx. [Online]. Available: </a:t>
            </a:r>
            <a:r>
              <a:rPr lang="en-US" sz="2252" u="sng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  <a:hlinkClick r:id="rId3" tooltip="https://www.gadgetronicx.com/digital-code-lock-circuit-without-microcontroller/"/>
              </a:rPr>
              <a:t>https://www.gadgetronicx.com/digital-code-lock-circuit-without-microcontroller/</a:t>
            </a:r>
            <a:r>
              <a:rPr lang="en-US" sz="2252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.</a:t>
            </a:r>
          </a:p>
          <a:p>
            <a:pPr algn="just">
              <a:lnSpc>
                <a:spcPts val="2593"/>
              </a:lnSpc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2593"/>
              </a:lnSpc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2593"/>
              </a:lnSpc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2593"/>
              </a:lnSpc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  <a:p>
            <a:pPr algn="just">
              <a:lnSpc>
                <a:spcPts val="2593"/>
              </a:lnSpc>
              <a:spcBef>
                <a:spcPct val="0"/>
              </a:spcBef>
            </a:pPr>
            <a:endParaRPr lang="en-US" sz="2252">
              <a:solidFill>
                <a:srgbClr val="000000"/>
              </a:solidFill>
              <a:latin typeface="Luciole"/>
              <a:ea typeface="Luciole"/>
              <a:cs typeface="Luciole"/>
              <a:sym typeface="Luciol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023860" cy="10287000"/>
          </a:xfrm>
          <a:custGeom>
            <a:avLst/>
            <a:gdLst/>
            <a:ahLst/>
            <a:cxnLst/>
            <a:rect l="l" t="t" r="r" b="b"/>
            <a:pathLst>
              <a:path w="8023860" h="10287000">
                <a:moveTo>
                  <a:pt x="0" y="0"/>
                </a:moveTo>
                <a:lnTo>
                  <a:pt x="8023860" y="0"/>
                </a:lnTo>
                <a:lnTo>
                  <a:pt x="80238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3796838" y="1253305"/>
            <a:ext cx="4641231" cy="3890195"/>
          </a:xfrm>
          <a:custGeom>
            <a:avLst/>
            <a:gdLst/>
            <a:ahLst/>
            <a:cxnLst/>
            <a:rect l="l" t="t" r="r" b="b"/>
            <a:pathLst>
              <a:path w="4641231" h="3890195">
                <a:moveTo>
                  <a:pt x="0" y="0"/>
                </a:moveTo>
                <a:lnTo>
                  <a:pt x="4641231" y="0"/>
                </a:lnTo>
                <a:lnTo>
                  <a:pt x="4641231" y="3890195"/>
                </a:lnTo>
                <a:lnTo>
                  <a:pt x="0" y="3890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8448189" y="4013200"/>
            <a:ext cx="8386782" cy="1889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00000"/>
                </a:solidFill>
                <a:latin typeface="Luciole"/>
                <a:ea typeface="Luciole"/>
                <a:cs typeface="Luciole"/>
                <a:sym typeface="Luciol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Microsoft Office PowerPoint</Application>
  <PresentationFormat>Custom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Agrandir Tight Bold</vt:lpstr>
      <vt:lpstr>Luciole Bold</vt:lpstr>
      <vt:lpstr>Luciole</vt:lpstr>
      <vt:lpstr>Canva Sans Bold</vt:lpstr>
      <vt:lpstr>Oswald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23ECE381C10_Open Lab 1_Review </dc:title>
  <cp:lastModifiedBy>Sujith Krishna</cp:lastModifiedBy>
  <cp:revision>3</cp:revision>
  <dcterms:created xsi:type="dcterms:W3CDTF">2006-08-16T00:00:00Z</dcterms:created>
  <dcterms:modified xsi:type="dcterms:W3CDTF">2025-10-10T16:10:59Z</dcterms:modified>
  <dc:identifier>DAGx5Xke1oA</dc:identifier>
</cp:coreProperties>
</file>