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grandir Tight Bold" panose="020B0604020202020204" charset="0"/>
      <p:regular r:id="rId13"/>
    </p:embeddedFont>
    <p:embeddedFont>
      <p:font typeface="Canva Sans Bold" panose="020B0604020202020204" charset="0"/>
      <p:regular r:id="rId14"/>
    </p:embeddedFont>
    <p:embeddedFont>
      <p:font typeface="Luciole" panose="020B0604020202020204" charset="0"/>
      <p:regular r:id="rId15"/>
    </p:embeddedFont>
    <p:embeddedFont>
      <p:font typeface="Oswald" panose="00000500000000000000" pitchFamily="2" charset="0"/>
      <p:regular r:id="rId16"/>
    </p:embeddedFont>
    <p:embeddedFont>
      <p:font typeface="Times New Roman MT" panose="020B0604020202020204" charset="0"/>
      <p:regular r:id="rId17"/>
    </p:embeddedFont>
    <p:embeddedFont>
      <p:font typeface="Times New Roman MT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109/ICMEAS58693.2023.10379324" TargetMode="External"/><Relationship Id="rId2" Type="http://schemas.openxmlformats.org/officeDocument/2006/relationships/hyperlink" Target="https://doi.org/10.1109/I2CT57861.2023.10126415" TargetMode="External"/><Relationship Id="rId1" Type="http://schemas.openxmlformats.org/officeDocument/2006/relationships/slideLayout" Target="../slideLayouts/slideLayout7.xml"/><Relationship Id="rId5" Type="http://schemas.openxmlformats.org/officeDocument/2006/relationships/hyperlink" Target="https://doi.org/10.1109/ICAECA52838.2021.9675590" TargetMode="External"/><Relationship Id="rId4" Type="http://schemas.openxmlformats.org/officeDocument/2006/relationships/hyperlink" Target="https://www.researchgate.net/publication/297637448"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76389"/>
            <a:ext cx="2931920" cy="2810178"/>
            <a:chOff x="0" y="0"/>
            <a:chExt cx="3909226" cy="3746904"/>
          </a:xfrm>
        </p:grpSpPr>
        <p:grpSp>
          <p:nvGrpSpPr>
            <p:cNvPr id="3" name="Group 3"/>
            <p:cNvGrpSpPr/>
            <p:nvPr/>
          </p:nvGrpSpPr>
          <p:grpSpPr>
            <a:xfrm>
              <a:off x="0" y="0"/>
              <a:ext cx="885486" cy="3011111"/>
              <a:chOff x="0" y="0"/>
              <a:chExt cx="174911" cy="594787"/>
            </a:xfrm>
          </p:grpSpPr>
          <p:sp>
            <p:nvSpPr>
              <p:cNvPr id="4" name="Freeform 4"/>
              <p:cNvSpPr/>
              <p:nvPr/>
            </p:nvSpPr>
            <p:spPr>
              <a:xfrm>
                <a:off x="0" y="0"/>
                <a:ext cx="174911" cy="594787"/>
              </a:xfrm>
              <a:custGeom>
                <a:avLst/>
                <a:gdLst/>
                <a:ahLst/>
                <a:cxnLst/>
                <a:rect l="l" t="t" r="r" b="b"/>
                <a:pathLst>
                  <a:path w="174911" h="594787">
                    <a:moveTo>
                      <a:pt x="87455" y="0"/>
                    </a:moveTo>
                    <a:lnTo>
                      <a:pt x="87455" y="0"/>
                    </a:lnTo>
                    <a:cubicBezTo>
                      <a:pt x="135756" y="0"/>
                      <a:pt x="174911" y="39155"/>
                      <a:pt x="174911" y="87455"/>
                    </a:cubicBezTo>
                    <a:lnTo>
                      <a:pt x="174911" y="507332"/>
                    </a:lnTo>
                    <a:cubicBezTo>
                      <a:pt x="174911" y="530526"/>
                      <a:pt x="165697" y="552771"/>
                      <a:pt x="149296" y="569172"/>
                    </a:cubicBezTo>
                    <a:cubicBezTo>
                      <a:pt x="132895" y="585573"/>
                      <a:pt x="110650" y="594787"/>
                      <a:pt x="87455" y="594787"/>
                    </a:cubicBezTo>
                    <a:lnTo>
                      <a:pt x="87455" y="594787"/>
                    </a:lnTo>
                    <a:cubicBezTo>
                      <a:pt x="39155" y="594787"/>
                      <a:pt x="0" y="555632"/>
                      <a:pt x="0" y="507332"/>
                    </a:cubicBezTo>
                    <a:lnTo>
                      <a:pt x="0" y="87455"/>
                    </a:lnTo>
                    <a:cubicBezTo>
                      <a:pt x="0" y="64261"/>
                      <a:pt x="9214" y="42016"/>
                      <a:pt x="25615" y="25615"/>
                    </a:cubicBezTo>
                    <a:cubicBezTo>
                      <a:pt x="42016" y="9214"/>
                      <a:pt x="64261" y="0"/>
                      <a:pt x="87455" y="0"/>
                    </a:cubicBezTo>
                    <a:close/>
                  </a:path>
                </a:pathLst>
              </a:custGeom>
              <a:solidFill>
                <a:srgbClr val="61C8A3"/>
              </a:solidFill>
            </p:spPr>
            <p:txBody>
              <a:bodyPr/>
              <a:lstStyle/>
              <a:p>
                <a:endParaRPr lang="en-IN"/>
              </a:p>
            </p:txBody>
          </p:sp>
          <p:sp>
            <p:nvSpPr>
              <p:cNvPr id="5" name="TextBox 5"/>
              <p:cNvSpPr txBox="1"/>
              <p:nvPr/>
            </p:nvSpPr>
            <p:spPr>
              <a:xfrm>
                <a:off x="0" y="-38100"/>
                <a:ext cx="174911" cy="63288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11870" y="0"/>
              <a:ext cx="885486" cy="3746904"/>
              <a:chOff x="0" y="0"/>
              <a:chExt cx="174911" cy="740129"/>
            </a:xfrm>
          </p:grpSpPr>
          <p:sp>
            <p:nvSpPr>
              <p:cNvPr id="7" name="Freeform 7"/>
              <p:cNvSpPr/>
              <p:nvPr/>
            </p:nvSpPr>
            <p:spPr>
              <a:xfrm>
                <a:off x="0" y="0"/>
                <a:ext cx="174911" cy="740129"/>
              </a:xfrm>
              <a:custGeom>
                <a:avLst/>
                <a:gdLst/>
                <a:ahLst/>
                <a:cxnLst/>
                <a:rect l="l" t="t" r="r" b="b"/>
                <a:pathLst>
                  <a:path w="174911" h="740129">
                    <a:moveTo>
                      <a:pt x="87455" y="0"/>
                    </a:moveTo>
                    <a:lnTo>
                      <a:pt x="87455" y="0"/>
                    </a:lnTo>
                    <a:cubicBezTo>
                      <a:pt x="135756" y="0"/>
                      <a:pt x="174911" y="39155"/>
                      <a:pt x="174911" y="87455"/>
                    </a:cubicBezTo>
                    <a:lnTo>
                      <a:pt x="174911" y="652674"/>
                    </a:lnTo>
                    <a:cubicBezTo>
                      <a:pt x="174911" y="675868"/>
                      <a:pt x="165697" y="698113"/>
                      <a:pt x="149296" y="714514"/>
                    </a:cubicBezTo>
                    <a:cubicBezTo>
                      <a:pt x="132895" y="730915"/>
                      <a:pt x="110650" y="740129"/>
                      <a:pt x="87455" y="740129"/>
                    </a:cubicBezTo>
                    <a:lnTo>
                      <a:pt x="87455" y="740129"/>
                    </a:lnTo>
                    <a:cubicBezTo>
                      <a:pt x="64261" y="740129"/>
                      <a:pt x="42016" y="730915"/>
                      <a:pt x="25615" y="714514"/>
                    </a:cubicBezTo>
                    <a:cubicBezTo>
                      <a:pt x="9214" y="698113"/>
                      <a:pt x="0" y="675868"/>
                      <a:pt x="0" y="652674"/>
                    </a:cubicBezTo>
                    <a:lnTo>
                      <a:pt x="0" y="87455"/>
                    </a:lnTo>
                    <a:cubicBezTo>
                      <a:pt x="0" y="64261"/>
                      <a:pt x="9214" y="42016"/>
                      <a:pt x="25615" y="25615"/>
                    </a:cubicBezTo>
                    <a:cubicBezTo>
                      <a:pt x="42016" y="9214"/>
                      <a:pt x="64261" y="0"/>
                      <a:pt x="87455" y="0"/>
                    </a:cubicBezTo>
                    <a:close/>
                  </a:path>
                </a:pathLst>
              </a:custGeom>
              <a:solidFill>
                <a:srgbClr val="000000">
                  <a:alpha val="0"/>
                </a:srgbClr>
              </a:solidFill>
              <a:ln w="38100" cap="rnd">
                <a:solidFill>
                  <a:srgbClr val="6C584C"/>
                </a:solidFill>
                <a:prstDash val="solid"/>
                <a:round/>
              </a:ln>
            </p:spPr>
            <p:txBody>
              <a:bodyPr/>
              <a:lstStyle/>
              <a:p>
                <a:endParaRPr lang="en-IN"/>
              </a:p>
            </p:txBody>
          </p:sp>
          <p:sp>
            <p:nvSpPr>
              <p:cNvPr id="8" name="TextBox 8"/>
              <p:cNvSpPr txBox="1"/>
              <p:nvPr/>
            </p:nvSpPr>
            <p:spPr>
              <a:xfrm>
                <a:off x="0" y="-38100"/>
                <a:ext cx="174911" cy="778229"/>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3023740" y="0"/>
              <a:ext cx="885486" cy="2098277"/>
              <a:chOff x="0" y="0"/>
              <a:chExt cx="174911" cy="414475"/>
            </a:xfrm>
          </p:grpSpPr>
          <p:sp>
            <p:nvSpPr>
              <p:cNvPr id="10" name="Freeform 10"/>
              <p:cNvSpPr/>
              <p:nvPr/>
            </p:nvSpPr>
            <p:spPr>
              <a:xfrm>
                <a:off x="0" y="0"/>
                <a:ext cx="174911" cy="414475"/>
              </a:xfrm>
              <a:custGeom>
                <a:avLst/>
                <a:gdLst/>
                <a:ahLst/>
                <a:cxnLst/>
                <a:rect l="l" t="t" r="r" b="b"/>
                <a:pathLst>
                  <a:path w="174911" h="414475">
                    <a:moveTo>
                      <a:pt x="87455" y="0"/>
                    </a:moveTo>
                    <a:lnTo>
                      <a:pt x="87455" y="0"/>
                    </a:lnTo>
                    <a:cubicBezTo>
                      <a:pt x="135756" y="0"/>
                      <a:pt x="174911" y="39155"/>
                      <a:pt x="174911" y="87455"/>
                    </a:cubicBezTo>
                    <a:lnTo>
                      <a:pt x="174911" y="327019"/>
                    </a:lnTo>
                    <a:cubicBezTo>
                      <a:pt x="174911" y="350214"/>
                      <a:pt x="165697" y="372458"/>
                      <a:pt x="149296" y="388859"/>
                    </a:cubicBezTo>
                    <a:cubicBezTo>
                      <a:pt x="132895" y="405261"/>
                      <a:pt x="110650" y="414475"/>
                      <a:pt x="87455" y="414475"/>
                    </a:cubicBezTo>
                    <a:lnTo>
                      <a:pt x="87455" y="414475"/>
                    </a:lnTo>
                    <a:cubicBezTo>
                      <a:pt x="39155" y="414475"/>
                      <a:pt x="0" y="375319"/>
                      <a:pt x="0" y="327019"/>
                    </a:cubicBezTo>
                    <a:lnTo>
                      <a:pt x="0" y="87455"/>
                    </a:lnTo>
                    <a:cubicBezTo>
                      <a:pt x="0" y="64261"/>
                      <a:pt x="9214" y="42016"/>
                      <a:pt x="25615" y="25615"/>
                    </a:cubicBezTo>
                    <a:cubicBezTo>
                      <a:pt x="42016" y="9214"/>
                      <a:pt x="64261" y="0"/>
                      <a:pt x="87455" y="0"/>
                    </a:cubicBezTo>
                    <a:close/>
                  </a:path>
                </a:pathLst>
              </a:custGeom>
              <a:solidFill>
                <a:srgbClr val="6C584C"/>
              </a:solidFill>
            </p:spPr>
            <p:txBody>
              <a:bodyPr/>
              <a:lstStyle/>
              <a:p>
                <a:endParaRPr lang="en-IN"/>
              </a:p>
            </p:txBody>
          </p:sp>
          <p:sp>
            <p:nvSpPr>
              <p:cNvPr id="11" name="TextBox 11"/>
              <p:cNvSpPr txBox="1"/>
              <p:nvPr/>
            </p:nvSpPr>
            <p:spPr>
              <a:xfrm>
                <a:off x="0" y="-38100"/>
                <a:ext cx="174911" cy="452575"/>
              </a:xfrm>
              <a:prstGeom prst="rect">
                <a:avLst/>
              </a:prstGeom>
            </p:spPr>
            <p:txBody>
              <a:bodyPr lIns="50800" tIns="50800" rIns="50800" bIns="50800" rtlCol="0" anchor="ctr"/>
              <a:lstStyle/>
              <a:p>
                <a:pPr algn="ctr">
                  <a:lnSpc>
                    <a:spcPts val="2659"/>
                  </a:lnSpc>
                  <a:spcBef>
                    <a:spcPct val="0"/>
                  </a:spcBef>
                </a:pPr>
                <a:endParaRPr/>
              </a:p>
            </p:txBody>
          </p:sp>
        </p:grpSp>
      </p:grpSp>
      <p:sp>
        <p:nvSpPr>
          <p:cNvPr id="12" name="TextBox 12"/>
          <p:cNvSpPr txBox="1"/>
          <p:nvPr/>
        </p:nvSpPr>
        <p:spPr>
          <a:xfrm>
            <a:off x="1972361" y="2530327"/>
            <a:ext cx="15585029" cy="2157716"/>
          </a:xfrm>
          <a:prstGeom prst="rect">
            <a:avLst/>
          </a:prstGeom>
        </p:spPr>
        <p:txBody>
          <a:bodyPr lIns="0" tIns="0" rIns="0" bIns="0" rtlCol="0" anchor="t">
            <a:spAutoFit/>
          </a:bodyPr>
          <a:lstStyle/>
          <a:p>
            <a:pPr algn="ctr">
              <a:lnSpc>
                <a:spcPts val="8645"/>
              </a:lnSpc>
              <a:spcBef>
                <a:spcPct val="0"/>
              </a:spcBef>
            </a:pPr>
            <a:r>
              <a:rPr lang="en-US" sz="6175">
                <a:solidFill>
                  <a:srgbClr val="000000"/>
                </a:solidFill>
                <a:latin typeface="Oswald"/>
                <a:ea typeface="Oswald"/>
                <a:cs typeface="Oswald"/>
                <a:sym typeface="Oswald"/>
              </a:rPr>
              <a:t>DIGITAL LOCKING SYSTEM WITH UNAUTHORIZED ACCESS ALERT </a:t>
            </a:r>
          </a:p>
        </p:txBody>
      </p:sp>
      <p:sp>
        <p:nvSpPr>
          <p:cNvPr id="13" name="AutoShape 13"/>
          <p:cNvSpPr/>
          <p:nvPr/>
        </p:nvSpPr>
        <p:spPr>
          <a:xfrm>
            <a:off x="2506256" y="5143500"/>
            <a:ext cx="13922163" cy="0"/>
          </a:xfrm>
          <a:prstGeom prst="line">
            <a:avLst/>
          </a:prstGeom>
          <a:ln w="57150" cap="flat">
            <a:solidFill>
              <a:srgbClr val="000000"/>
            </a:solidFill>
            <a:prstDash val="solid"/>
            <a:headEnd type="none" w="sm" len="sm"/>
            <a:tailEnd type="none" w="sm" len="sm"/>
          </a:ln>
        </p:spPr>
        <p:txBody>
          <a:bodyPr/>
          <a:lstStyle/>
          <a:p>
            <a:endParaRPr lang="en-IN"/>
          </a:p>
        </p:txBody>
      </p:sp>
      <p:sp>
        <p:nvSpPr>
          <p:cNvPr id="14" name="Freeform 14"/>
          <p:cNvSpPr/>
          <p:nvPr/>
        </p:nvSpPr>
        <p:spPr>
          <a:xfrm>
            <a:off x="5317994" y="1297891"/>
            <a:ext cx="943661" cy="506169"/>
          </a:xfrm>
          <a:custGeom>
            <a:avLst/>
            <a:gdLst/>
            <a:ahLst/>
            <a:cxnLst/>
            <a:rect l="l" t="t" r="r" b="b"/>
            <a:pathLst>
              <a:path w="943661" h="506169">
                <a:moveTo>
                  <a:pt x="0" y="0"/>
                </a:moveTo>
                <a:lnTo>
                  <a:pt x="943661" y="0"/>
                </a:lnTo>
                <a:lnTo>
                  <a:pt x="943661" y="506169"/>
                </a:lnTo>
                <a:lnTo>
                  <a:pt x="0" y="5061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 name="TextBox 15"/>
          <p:cNvSpPr txBox="1"/>
          <p:nvPr/>
        </p:nvSpPr>
        <p:spPr>
          <a:xfrm>
            <a:off x="3447601" y="5505450"/>
            <a:ext cx="11392798" cy="946010"/>
          </a:xfrm>
          <a:prstGeom prst="rect">
            <a:avLst/>
          </a:prstGeom>
        </p:spPr>
        <p:txBody>
          <a:bodyPr lIns="0" tIns="0" rIns="0" bIns="0" rtlCol="0" anchor="t">
            <a:spAutoFit/>
          </a:bodyPr>
          <a:lstStyle/>
          <a:p>
            <a:pPr algn="ctr">
              <a:lnSpc>
                <a:spcPts val="6657"/>
              </a:lnSpc>
              <a:spcBef>
                <a:spcPct val="0"/>
              </a:spcBef>
            </a:pPr>
            <a:r>
              <a:rPr lang="en-US" sz="4755" b="1">
                <a:solidFill>
                  <a:srgbClr val="000000"/>
                </a:solidFill>
                <a:latin typeface="Agrandir Tight Bold"/>
                <a:ea typeface="Agrandir Tight Bold"/>
                <a:cs typeface="Agrandir Tight Bold"/>
                <a:sym typeface="Agrandir Tight Bold"/>
              </a:rPr>
              <a:t>Presented By :23ECE381C10</a:t>
            </a:r>
          </a:p>
        </p:txBody>
      </p:sp>
      <p:sp>
        <p:nvSpPr>
          <p:cNvPr id="16" name="TextBox 16"/>
          <p:cNvSpPr txBox="1"/>
          <p:nvPr/>
        </p:nvSpPr>
        <p:spPr>
          <a:xfrm>
            <a:off x="5096768" y="6969568"/>
            <a:ext cx="8466832" cy="2974532"/>
          </a:xfrm>
          <a:prstGeom prst="rect">
            <a:avLst/>
          </a:prstGeom>
        </p:spPr>
        <p:txBody>
          <a:bodyPr wrap="square" lIns="0" tIns="0" rIns="0" bIns="0" rtlCol="0" anchor="t">
            <a:spAutoFit/>
          </a:bodyPr>
          <a:lstStyle/>
          <a:p>
            <a:pPr algn="ctr">
              <a:lnSpc>
                <a:spcPts val="4718"/>
              </a:lnSpc>
            </a:pPr>
            <a:r>
              <a:rPr lang="en-US" sz="3370" b="1" dirty="0">
                <a:solidFill>
                  <a:srgbClr val="000000"/>
                </a:solidFill>
                <a:latin typeface="Canva Sans Bold"/>
                <a:ea typeface="Canva Sans Bold"/>
                <a:cs typeface="Canva Sans Bold"/>
                <a:sym typeface="Canva Sans Bold"/>
              </a:rPr>
              <a:t>Group Members:</a:t>
            </a:r>
          </a:p>
          <a:p>
            <a:pPr algn="ctr">
              <a:lnSpc>
                <a:spcPts val="4718"/>
              </a:lnSpc>
            </a:pPr>
            <a:r>
              <a:rPr lang="en-US" sz="3370" b="1" dirty="0">
                <a:solidFill>
                  <a:srgbClr val="000000"/>
                </a:solidFill>
                <a:latin typeface="Canva Sans Bold"/>
                <a:ea typeface="Canva Sans Bold"/>
                <a:cs typeface="Canva Sans Bold"/>
                <a:sym typeface="Canva Sans Bold"/>
              </a:rPr>
              <a:t>Chittesh S(CB.EN.U4ECE23212)</a:t>
            </a:r>
          </a:p>
          <a:p>
            <a:pPr algn="ctr">
              <a:lnSpc>
                <a:spcPts val="4718"/>
              </a:lnSpc>
            </a:pPr>
            <a:r>
              <a:rPr lang="en-US" sz="3370" b="1" dirty="0">
                <a:solidFill>
                  <a:srgbClr val="000000"/>
                </a:solidFill>
                <a:latin typeface="Canva Sans Bold"/>
                <a:ea typeface="Canva Sans Bold"/>
                <a:cs typeface="Canva Sans Bold"/>
                <a:sym typeface="Canva Sans Bold"/>
              </a:rPr>
              <a:t>Sricharan R P(CB.EN.U4ECE23246)</a:t>
            </a:r>
          </a:p>
          <a:p>
            <a:pPr algn="ctr">
              <a:lnSpc>
                <a:spcPts val="4718"/>
              </a:lnSpc>
            </a:pPr>
            <a:r>
              <a:rPr lang="en-US" sz="3370" b="1" dirty="0">
                <a:solidFill>
                  <a:srgbClr val="000000"/>
                </a:solidFill>
                <a:latin typeface="Canva Sans Bold"/>
                <a:ea typeface="Canva Sans Bold"/>
                <a:cs typeface="Canva Sans Bold"/>
                <a:sym typeface="Canva Sans Bold"/>
              </a:rPr>
              <a:t>Sujith Krishna P G(CB.EN.U4ECE23249)</a:t>
            </a:r>
          </a:p>
          <a:p>
            <a:pPr algn="ctr">
              <a:lnSpc>
                <a:spcPts val="4718"/>
              </a:lnSpc>
            </a:pPr>
            <a:endParaRPr lang="en-US" sz="3370" b="1" dirty="0">
              <a:solidFill>
                <a:srgbClr val="000000"/>
              </a:solidFill>
              <a:latin typeface="Canva Sans Bold"/>
              <a:ea typeface="Canva Sans Bold"/>
              <a:cs typeface="Canva Sans Bold"/>
              <a:sym typeface="Canva Sans Bold"/>
            </a:endParaRPr>
          </a:p>
        </p:txBody>
      </p:sp>
      <p:sp>
        <p:nvSpPr>
          <p:cNvPr id="17" name="TextBox 17"/>
          <p:cNvSpPr txBox="1"/>
          <p:nvPr/>
        </p:nvSpPr>
        <p:spPr>
          <a:xfrm>
            <a:off x="6040429" y="1211336"/>
            <a:ext cx="7023349" cy="580390"/>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23ECE381 Open Laboratory I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8717557"/>
            <a:ext cx="21945600" cy="1569443"/>
            <a:chOff x="0" y="0"/>
            <a:chExt cx="29260800" cy="2092591"/>
          </a:xfrm>
        </p:grpSpPr>
        <p:grpSp>
          <p:nvGrpSpPr>
            <p:cNvPr id="3" name="Group 3"/>
            <p:cNvGrpSpPr/>
            <p:nvPr/>
          </p:nvGrpSpPr>
          <p:grpSpPr>
            <a:xfrm>
              <a:off x="0" y="0"/>
              <a:ext cx="24384000" cy="2092591"/>
              <a:chOff x="0" y="0"/>
              <a:chExt cx="4816593" cy="413351"/>
            </a:xfrm>
          </p:grpSpPr>
          <p:sp>
            <p:nvSpPr>
              <p:cNvPr id="4" name="Freeform 4"/>
              <p:cNvSpPr/>
              <p:nvPr/>
            </p:nvSpPr>
            <p:spPr>
              <a:xfrm>
                <a:off x="0" y="0"/>
                <a:ext cx="4816592" cy="413351"/>
              </a:xfrm>
              <a:custGeom>
                <a:avLst/>
                <a:gdLst/>
                <a:ahLst/>
                <a:cxnLst/>
                <a:rect l="l" t="t" r="r" b="b"/>
                <a:pathLst>
                  <a:path w="4816592" h="413351">
                    <a:moveTo>
                      <a:pt x="0" y="0"/>
                    </a:moveTo>
                    <a:lnTo>
                      <a:pt x="4816592" y="0"/>
                    </a:lnTo>
                    <a:lnTo>
                      <a:pt x="4816592" y="413351"/>
                    </a:lnTo>
                    <a:lnTo>
                      <a:pt x="0" y="413351"/>
                    </a:lnTo>
                    <a:close/>
                  </a:path>
                </a:pathLst>
              </a:custGeom>
              <a:solidFill>
                <a:srgbClr val="FFD670"/>
              </a:solidFill>
            </p:spPr>
            <p:txBody>
              <a:bodyPr/>
              <a:lstStyle/>
              <a:p>
                <a:endParaRPr lang="en-IN"/>
              </a:p>
            </p:txBody>
          </p:sp>
          <p:sp>
            <p:nvSpPr>
              <p:cNvPr id="5" name="TextBox 5"/>
              <p:cNvSpPr txBox="1"/>
              <p:nvPr/>
            </p:nvSpPr>
            <p:spPr>
              <a:xfrm>
                <a:off x="0" y="-38100"/>
                <a:ext cx="4816593" cy="451451"/>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0" y="0"/>
              <a:ext cx="9753600" cy="2092591"/>
            </a:xfrm>
            <a:custGeom>
              <a:avLst/>
              <a:gdLst/>
              <a:ahLst/>
              <a:cxnLst/>
              <a:rect l="l" t="t" r="r" b="b"/>
              <a:pathLst>
                <a:path w="9753600" h="2092591">
                  <a:moveTo>
                    <a:pt x="0" y="0"/>
                  </a:moveTo>
                  <a:lnTo>
                    <a:pt x="9753600" y="0"/>
                  </a:lnTo>
                  <a:lnTo>
                    <a:pt x="9753600" y="2092591"/>
                  </a:lnTo>
                  <a:lnTo>
                    <a:pt x="0" y="2092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9507200" y="0"/>
              <a:ext cx="9753600" cy="2092591"/>
            </a:xfrm>
            <a:custGeom>
              <a:avLst/>
              <a:gdLst/>
              <a:ahLst/>
              <a:cxnLst/>
              <a:rect l="l" t="t" r="r" b="b"/>
              <a:pathLst>
                <a:path w="9753600" h="2092591">
                  <a:moveTo>
                    <a:pt x="0" y="0"/>
                  </a:moveTo>
                  <a:lnTo>
                    <a:pt x="9753600" y="0"/>
                  </a:lnTo>
                  <a:lnTo>
                    <a:pt x="9753600" y="2092591"/>
                  </a:lnTo>
                  <a:lnTo>
                    <a:pt x="0" y="2092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9753600" y="0"/>
              <a:ext cx="9753600" cy="2092591"/>
            </a:xfrm>
            <a:custGeom>
              <a:avLst/>
              <a:gdLst/>
              <a:ahLst/>
              <a:cxnLst/>
              <a:rect l="l" t="t" r="r" b="b"/>
              <a:pathLst>
                <a:path w="9753600" h="2092591">
                  <a:moveTo>
                    <a:pt x="0" y="0"/>
                  </a:moveTo>
                  <a:lnTo>
                    <a:pt x="9753600" y="0"/>
                  </a:lnTo>
                  <a:lnTo>
                    <a:pt x="9753600" y="2092591"/>
                  </a:lnTo>
                  <a:lnTo>
                    <a:pt x="0" y="2092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grpSp>
        <p:nvGrpSpPr>
          <p:cNvPr id="9" name="Group 9"/>
          <p:cNvGrpSpPr/>
          <p:nvPr/>
        </p:nvGrpSpPr>
        <p:grpSpPr>
          <a:xfrm>
            <a:off x="15359143" y="-376389"/>
            <a:ext cx="2928857" cy="2810178"/>
            <a:chOff x="0" y="0"/>
            <a:chExt cx="3905143" cy="3746904"/>
          </a:xfrm>
        </p:grpSpPr>
        <p:grpSp>
          <p:nvGrpSpPr>
            <p:cNvPr id="10" name="Group 10"/>
            <p:cNvGrpSpPr/>
            <p:nvPr/>
          </p:nvGrpSpPr>
          <p:grpSpPr>
            <a:xfrm>
              <a:off x="3019656" y="0"/>
              <a:ext cx="885486" cy="3011111"/>
              <a:chOff x="0" y="0"/>
              <a:chExt cx="174911" cy="594787"/>
            </a:xfrm>
          </p:grpSpPr>
          <p:sp>
            <p:nvSpPr>
              <p:cNvPr id="11" name="Freeform 11"/>
              <p:cNvSpPr/>
              <p:nvPr/>
            </p:nvSpPr>
            <p:spPr>
              <a:xfrm>
                <a:off x="0" y="0"/>
                <a:ext cx="174911" cy="594787"/>
              </a:xfrm>
              <a:custGeom>
                <a:avLst/>
                <a:gdLst/>
                <a:ahLst/>
                <a:cxnLst/>
                <a:rect l="l" t="t" r="r" b="b"/>
                <a:pathLst>
                  <a:path w="174911" h="594787">
                    <a:moveTo>
                      <a:pt x="87455" y="0"/>
                    </a:moveTo>
                    <a:lnTo>
                      <a:pt x="87455" y="0"/>
                    </a:lnTo>
                    <a:cubicBezTo>
                      <a:pt x="135756" y="0"/>
                      <a:pt x="174911" y="39155"/>
                      <a:pt x="174911" y="87455"/>
                    </a:cubicBezTo>
                    <a:lnTo>
                      <a:pt x="174911" y="507332"/>
                    </a:lnTo>
                    <a:cubicBezTo>
                      <a:pt x="174911" y="530526"/>
                      <a:pt x="165697" y="552771"/>
                      <a:pt x="149296" y="569172"/>
                    </a:cubicBezTo>
                    <a:cubicBezTo>
                      <a:pt x="132895" y="585573"/>
                      <a:pt x="110650" y="594787"/>
                      <a:pt x="87455" y="594787"/>
                    </a:cubicBezTo>
                    <a:lnTo>
                      <a:pt x="87455" y="594787"/>
                    </a:lnTo>
                    <a:cubicBezTo>
                      <a:pt x="39155" y="594787"/>
                      <a:pt x="0" y="555632"/>
                      <a:pt x="0" y="507332"/>
                    </a:cubicBezTo>
                    <a:lnTo>
                      <a:pt x="0" y="87455"/>
                    </a:lnTo>
                    <a:cubicBezTo>
                      <a:pt x="0" y="64261"/>
                      <a:pt x="9214" y="42016"/>
                      <a:pt x="25615" y="25615"/>
                    </a:cubicBezTo>
                    <a:cubicBezTo>
                      <a:pt x="42016" y="9214"/>
                      <a:pt x="64261" y="0"/>
                      <a:pt x="87455" y="0"/>
                    </a:cubicBezTo>
                    <a:close/>
                  </a:path>
                </a:pathLst>
              </a:custGeom>
              <a:solidFill>
                <a:srgbClr val="61C8A3"/>
              </a:solidFill>
            </p:spPr>
            <p:txBody>
              <a:bodyPr/>
              <a:lstStyle/>
              <a:p>
                <a:endParaRPr lang="en-IN"/>
              </a:p>
            </p:txBody>
          </p:sp>
          <p:sp>
            <p:nvSpPr>
              <p:cNvPr id="12" name="TextBox 12"/>
              <p:cNvSpPr txBox="1"/>
              <p:nvPr/>
            </p:nvSpPr>
            <p:spPr>
              <a:xfrm>
                <a:off x="0" y="-38100"/>
                <a:ext cx="174911" cy="632887"/>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507786" y="0"/>
              <a:ext cx="885486" cy="3746904"/>
              <a:chOff x="0" y="0"/>
              <a:chExt cx="174911" cy="740129"/>
            </a:xfrm>
          </p:grpSpPr>
          <p:sp>
            <p:nvSpPr>
              <p:cNvPr id="14" name="Freeform 14"/>
              <p:cNvSpPr/>
              <p:nvPr/>
            </p:nvSpPr>
            <p:spPr>
              <a:xfrm>
                <a:off x="0" y="0"/>
                <a:ext cx="174911" cy="740129"/>
              </a:xfrm>
              <a:custGeom>
                <a:avLst/>
                <a:gdLst/>
                <a:ahLst/>
                <a:cxnLst/>
                <a:rect l="l" t="t" r="r" b="b"/>
                <a:pathLst>
                  <a:path w="174911" h="740129">
                    <a:moveTo>
                      <a:pt x="87455" y="0"/>
                    </a:moveTo>
                    <a:lnTo>
                      <a:pt x="87455" y="0"/>
                    </a:lnTo>
                    <a:cubicBezTo>
                      <a:pt x="135756" y="0"/>
                      <a:pt x="174911" y="39155"/>
                      <a:pt x="174911" y="87455"/>
                    </a:cubicBezTo>
                    <a:lnTo>
                      <a:pt x="174911" y="652674"/>
                    </a:lnTo>
                    <a:cubicBezTo>
                      <a:pt x="174911" y="675868"/>
                      <a:pt x="165697" y="698113"/>
                      <a:pt x="149296" y="714514"/>
                    </a:cubicBezTo>
                    <a:cubicBezTo>
                      <a:pt x="132895" y="730915"/>
                      <a:pt x="110650" y="740129"/>
                      <a:pt x="87455" y="740129"/>
                    </a:cubicBezTo>
                    <a:lnTo>
                      <a:pt x="87455" y="740129"/>
                    </a:lnTo>
                    <a:cubicBezTo>
                      <a:pt x="64261" y="740129"/>
                      <a:pt x="42016" y="730915"/>
                      <a:pt x="25615" y="714514"/>
                    </a:cubicBezTo>
                    <a:cubicBezTo>
                      <a:pt x="9214" y="698113"/>
                      <a:pt x="0" y="675868"/>
                      <a:pt x="0" y="652674"/>
                    </a:cubicBezTo>
                    <a:lnTo>
                      <a:pt x="0" y="87455"/>
                    </a:lnTo>
                    <a:cubicBezTo>
                      <a:pt x="0" y="64261"/>
                      <a:pt x="9214" y="42016"/>
                      <a:pt x="25615" y="25615"/>
                    </a:cubicBezTo>
                    <a:cubicBezTo>
                      <a:pt x="42016" y="9214"/>
                      <a:pt x="64261" y="0"/>
                      <a:pt x="87455" y="0"/>
                    </a:cubicBezTo>
                    <a:close/>
                  </a:path>
                </a:pathLst>
              </a:custGeom>
              <a:solidFill>
                <a:srgbClr val="000000">
                  <a:alpha val="0"/>
                </a:srgbClr>
              </a:solidFill>
              <a:ln w="38100" cap="rnd">
                <a:solidFill>
                  <a:srgbClr val="6C584C"/>
                </a:solidFill>
                <a:prstDash val="solid"/>
                <a:round/>
              </a:ln>
            </p:spPr>
            <p:txBody>
              <a:bodyPr/>
              <a:lstStyle/>
              <a:p>
                <a:endParaRPr lang="en-IN"/>
              </a:p>
            </p:txBody>
          </p:sp>
          <p:sp>
            <p:nvSpPr>
              <p:cNvPr id="15" name="TextBox 15"/>
              <p:cNvSpPr txBox="1"/>
              <p:nvPr/>
            </p:nvSpPr>
            <p:spPr>
              <a:xfrm>
                <a:off x="0" y="-38100"/>
                <a:ext cx="174911" cy="778229"/>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0" y="0"/>
              <a:ext cx="885486" cy="2098277"/>
              <a:chOff x="0" y="0"/>
              <a:chExt cx="174911" cy="414475"/>
            </a:xfrm>
          </p:grpSpPr>
          <p:sp>
            <p:nvSpPr>
              <p:cNvPr id="17" name="Freeform 17"/>
              <p:cNvSpPr/>
              <p:nvPr/>
            </p:nvSpPr>
            <p:spPr>
              <a:xfrm>
                <a:off x="0" y="0"/>
                <a:ext cx="174911" cy="414475"/>
              </a:xfrm>
              <a:custGeom>
                <a:avLst/>
                <a:gdLst/>
                <a:ahLst/>
                <a:cxnLst/>
                <a:rect l="l" t="t" r="r" b="b"/>
                <a:pathLst>
                  <a:path w="174911" h="414475">
                    <a:moveTo>
                      <a:pt x="87455" y="0"/>
                    </a:moveTo>
                    <a:lnTo>
                      <a:pt x="87455" y="0"/>
                    </a:lnTo>
                    <a:cubicBezTo>
                      <a:pt x="135756" y="0"/>
                      <a:pt x="174911" y="39155"/>
                      <a:pt x="174911" y="87455"/>
                    </a:cubicBezTo>
                    <a:lnTo>
                      <a:pt x="174911" y="327019"/>
                    </a:lnTo>
                    <a:cubicBezTo>
                      <a:pt x="174911" y="350214"/>
                      <a:pt x="165697" y="372458"/>
                      <a:pt x="149296" y="388859"/>
                    </a:cubicBezTo>
                    <a:cubicBezTo>
                      <a:pt x="132895" y="405261"/>
                      <a:pt x="110650" y="414475"/>
                      <a:pt x="87455" y="414475"/>
                    </a:cubicBezTo>
                    <a:lnTo>
                      <a:pt x="87455" y="414475"/>
                    </a:lnTo>
                    <a:cubicBezTo>
                      <a:pt x="39155" y="414475"/>
                      <a:pt x="0" y="375319"/>
                      <a:pt x="0" y="327019"/>
                    </a:cubicBezTo>
                    <a:lnTo>
                      <a:pt x="0" y="87455"/>
                    </a:lnTo>
                    <a:cubicBezTo>
                      <a:pt x="0" y="64261"/>
                      <a:pt x="9214" y="42016"/>
                      <a:pt x="25615" y="25615"/>
                    </a:cubicBezTo>
                    <a:cubicBezTo>
                      <a:pt x="42016" y="9214"/>
                      <a:pt x="64261" y="0"/>
                      <a:pt x="87455" y="0"/>
                    </a:cubicBezTo>
                    <a:close/>
                  </a:path>
                </a:pathLst>
              </a:custGeom>
              <a:solidFill>
                <a:srgbClr val="6C584C"/>
              </a:solidFill>
            </p:spPr>
            <p:txBody>
              <a:bodyPr/>
              <a:lstStyle/>
              <a:p>
                <a:endParaRPr lang="en-IN"/>
              </a:p>
            </p:txBody>
          </p:sp>
          <p:sp>
            <p:nvSpPr>
              <p:cNvPr id="18" name="TextBox 18"/>
              <p:cNvSpPr txBox="1"/>
              <p:nvPr/>
            </p:nvSpPr>
            <p:spPr>
              <a:xfrm>
                <a:off x="0" y="-38100"/>
                <a:ext cx="174911" cy="452575"/>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9" name="Group 19"/>
          <p:cNvGrpSpPr/>
          <p:nvPr/>
        </p:nvGrpSpPr>
        <p:grpSpPr>
          <a:xfrm>
            <a:off x="0" y="-376389"/>
            <a:ext cx="2931920" cy="2810178"/>
            <a:chOff x="0" y="0"/>
            <a:chExt cx="3909226" cy="3746904"/>
          </a:xfrm>
        </p:grpSpPr>
        <p:grpSp>
          <p:nvGrpSpPr>
            <p:cNvPr id="20" name="Group 20"/>
            <p:cNvGrpSpPr/>
            <p:nvPr/>
          </p:nvGrpSpPr>
          <p:grpSpPr>
            <a:xfrm>
              <a:off x="0" y="0"/>
              <a:ext cx="885486" cy="3011111"/>
              <a:chOff x="0" y="0"/>
              <a:chExt cx="174911" cy="594787"/>
            </a:xfrm>
          </p:grpSpPr>
          <p:sp>
            <p:nvSpPr>
              <p:cNvPr id="21" name="Freeform 21"/>
              <p:cNvSpPr/>
              <p:nvPr/>
            </p:nvSpPr>
            <p:spPr>
              <a:xfrm>
                <a:off x="0" y="0"/>
                <a:ext cx="174911" cy="594787"/>
              </a:xfrm>
              <a:custGeom>
                <a:avLst/>
                <a:gdLst/>
                <a:ahLst/>
                <a:cxnLst/>
                <a:rect l="l" t="t" r="r" b="b"/>
                <a:pathLst>
                  <a:path w="174911" h="594787">
                    <a:moveTo>
                      <a:pt x="87455" y="0"/>
                    </a:moveTo>
                    <a:lnTo>
                      <a:pt x="87455" y="0"/>
                    </a:lnTo>
                    <a:cubicBezTo>
                      <a:pt x="135756" y="0"/>
                      <a:pt x="174911" y="39155"/>
                      <a:pt x="174911" y="87455"/>
                    </a:cubicBezTo>
                    <a:lnTo>
                      <a:pt x="174911" y="507332"/>
                    </a:lnTo>
                    <a:cubicBezTo>
                      <a:pt x="174911" y="530526"/>
                      <a:pt x="165697" y="552771"/>
                      <a:pt x="149296" y="569172"/>
                    </a:cubicBezTo>
                    <a:cubicBezTo>
                      <a:pt x="132895" y="585573"/>
                      <a:pt x="110650" y="594787"/>
                      <a:pt x="87455" y="594787"/>
                    </a:cubicBezTo>
                    <a:lnTo>
                      <a:pt x="87455" y="594787"/>
                    </a:lnTo>
                    <a:cubicBezTo>
                      <a:pt x="39155" y="594787"/>
                      <a:pt x="0" y="555632"/>
                      <a:pt x="0" y="507332"/>
                    </a:cubicBezTo>
                    <a:lnTo>
                      <a:pt x="0" y="87455"/>
                    </a:lnTo>
                    <a:cubicBezTo>
                      <a:pt x="0" y="64261"/>
                      <a:pt x="9214" y="42016"/>
                      <a:pt x="25615" y="25615"/>
                    </a:cubicBezTo>
                    <a:cubicBezTo>
                      <a:pt x="42016" y="9214"/>
                      <a:pt x="64261" y="0"/>
                      <a:pt x="87455" y="0"/>
                    </a:cubicBezTo>
                    <a:close/>
                  </a:path>
                </a:pathLst>
              </a:custGeom>
              <a:solidFill>
                <a:srgbClr val="61C8A3"/>
              </a:solidFill>
            </p:spPr>
            <p:txBody>
              <a:bodyPr/>
              <a:lstStyle/>
              <a:p>
                <a:endParaRPr lang="en-IN"/>
              </a:p>
            </p:txBody>
          </p:sp>
          <p:sp>
            <p:nvSpPr>
              <p:cNvPr id="22" name="TextBox 22"/>
              <p:cNvSpPr txBox="1"/>
              <p:nvPr/>
            </p:nvSpPr>
            <p:spPr>
              <a:xfrm>
                <a:off x="0" y="-38100"/>
                <a:ext cx="174911" cy="632887"/>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a:off x="1511870" y="0"/>
              <a:ext cx="885486" cy="3746904"/>
              <a:chOff x="0" y="0"/>
              <a:chExt cx="174911" cy="740129"/>
            </a:xfrm>
          </p:grpSpPr>
          <p:sp>
            <p:nvSpPr>
              <p:cNvPr id="24" name="Freeform 24"/>
              <p:cNvSpPr/>
              <p:nvPr/>
            </p:nvSpPr>
            <p:spPr>
              <a:xfrm>
                <a:off x="0" y="0"/>
                <a:ext cx="174911" cy="740129"/>
              </a:xfrm>
              <a:custGeom>
                <a:avLst/>
                <a:gdLst/>
                <a:ahLst/>
                <a:cxnLst/>
                <a:rect l="l" t="t" r="r" b="b"/>
                <a:pathLst>
                  <a:path w="174911" h="740129">
                    <a:moveTo>
                      <a:pt x="87455" y="0"/>
                    </a:moveTo>
                    <a:lnTo>
                      <a:pt x="87455" y="0"/>
                    </a:lnTo>
                    <a:cubicBezTo>
                      <a:pt x="135756" y="0"/>
                      <a:pt x="174911" y="39155"/>
                      <a:pt x="174911" y="87455"/>
                    </a:cubicBezTo>
                    <a:lnTo>
                      <a:pt x="174911" y="652674"/>
                    </a:lnTo>
                    <a:cubicBezTo>
                      <a:pt x="174911" y="675868"/>
                      <a:pt x="165697" y="698113"/>
                      <a:pt x="149296" y="714514"/>
                    </a:cubicBezTo>
                    <a:cubicBezTo>
                      <a:pt x="132895" y="730915"/>
                      <a:pt x="110650" y="740129"/>
                      <a:pt x="87455" y="740129"/>
                    </a:cubicBezTo>
                    <a:lnTo>
                      <a:pt x="87455" y="740129"/>
                    </a:lnTo>
                    <a:cubicBezTo>
                      <a:pt x="64261" y="740129"/>
                      <a:pt x="42016" y="730915"/>
                      <a:pt x="25615" y="714514"/>
                    </a:cubicBezTo>
                    <a:cubicBezTo>
                      <a:pt x="9214" y="698113"/>
                      <a:pt x="0" y="675868"/>
                      <a:pt x="0" y="652674"/>
                    </a:cubicBezTo>
                    <a:lnTo>
                      <a:pt x="0" y="87455"/>
                    </a:lnTo>
                    <a:cubicBezTo>
                      <a:pt x="0" y="64261"/>
                      <a:pt x="9214" y="42016"/>
                      <a:pt x="25615" y="25615"/>
                    </a:cubicBezTo>
                    <a:cubicBezTo>
                      <a:pt x="42016" y="9214"/>
                      <a:pt x="64261" y="0"/>
                      <a:pt x="87455" y="0"/>
                    </a:cubicBezTo>
                    <a:close/>
                  </a:path>
                </a:pathLst>
              </a:custGeom>
              <a:solidFill>
                <a:srgbClr val="000000">
                  <a:alpha val="0"/>
                </a:srgbClr>
              </a:solidFill>
              <a:ln w="38100" cap="rnd">
                <a:solidFill>
                  <a:srgbClr val="6C584C"/>
                </a:solidFill>
                <a:prstDash val="solid"/>
                <a:round/>
              </a:ln>
            </p:spPr>
            <p:txBody>
              <a:bodyPr/>
              <a:lstStyle/>
              <a:p>
                <a:endParaRPr lang="en-IN"/>
              </a:p>
            </p:txBody>
          </p:sp>
          <p:sp>
            <p:nvSpPr>
              <p:cNvPr id="25" name="TextBox 25"/>
              <p:cNvSpPr txBox="1"/>
              <p:nvPr/>
            </p:nvSpPr>
            <p:spPr>
              <a:xfrm>
                <a:off x="0" y="-38100"/>
                <a:ext cx="174911" cy="778229"/>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a:off x="3023740" y="0"/>
              <a:ext cx="885486" cy="2098277"/>
              <a:chOff x="0" y="0"/>
              <a:chExt cx="174911" cy="414475"/>
            </a:xfrm>
          </p:grpSpPr>
          <p:sp>
            <p:nvSpPr>
              <p:cNvPr id="27" name="Freeform 27"/>
              <p:cNvSpPr/>
              <p:nvPr/>
            </p:nvSpPr>
            <p:spPr>
              <a:xfrm>
                <a:off x="0" y="0"/>
                <a:ext cx="174911" cy="414475"/>
              </a:xfrm>
              <a:custGeom>
                <a:avLst/>
                <a:gdLst/>
                <a:ahLst/>
                <a:cxnLst/>
                <a:rect l="l" t="t" r="r" b="b"/>
                <a:pathLst>
                  <a:path w="174911" h="414475">
                    <a:moveTo>
                      <a:pt x="87455" y="0"/>
                    </a:moveTo>
                    <a:lnTo>
                      <a:pt x="87455" y="0"/>
                    </a:lnTo>
                    <a:cubicBezTo>
                      <a:pt x="135756" y="0"/>
                      <a:pt x="174911" y="39155"/>
                      <a:pt x="174911" y="87455"/>
                    </a:cubicBezTo>
                    <a:lnTo>
                      <a:pt x="174911" y="327019"/>
                    </a:lnTo>
                    <a:cubicBezTo>
                      <a:pt x="174911" y="350214"/>
                      <a:pt x="165697" y="372458"/>
                      <a:pt x="149296" y="388859"/>
                    </a:cubicBezTo>
                    <a:cubicBezTo>
                      <a:pt x="132895" y="405261"/>
                      <a:pt x="110650" y="414475"/>
                      <a:pt x="87455" y="414475"/>
                    </a:cubicBezTo>
                    <a:lnTo>
                      <a:pt x="87455" y="414475"/>
                    </a:lnTo>
                    <a:cubicBezTo>
                      <a:pt x="39155" y="414475"/>
                      <a:pt x="0" y="375319"/>
                      <a:pt x="0" y="327019"/>
                    </a:cubicBezTo>
                    <a:lnTo>
                      <a:pt x="0" y="87455"/>
                    </a:lnTo>
                    <a:cubicBezTo>
                      <a:pt x="0" y="64261"/>
                      <a:pt x="9214" y="42016"/>
                      <a:pt x="25615" y="25615"/>
                    </a:cubicBezTo>
                    <a:cubicBezTo>
                      <a:pt x="42016" y="9214"/>
                      <a:pt x="64261" y="0"/>
                      <a:pt x="87455" y="0"/>
                    </a:cubicBezTo>
                    <a:close/>
                  </a:path>
                </a:pathLst>
              </a:custGeom>
              <a:solidFill>
                <a:srgbClr val="6C584C"/>
              </a:solidFill>
            </p:spPr>
            <p:txBody>
              <a:bodyPr/>
              <a:lstStyle/>
              <a:p>
                <a:endParaRPr lang="en-IN"/>
              </a:p>
            </p:txBody>
          </p:sp>
          <p:sp>
            <p:nvSpPr>
              <p:cNvPr id="28" name="TextBox 28"/>
              <p:cNvSpPr txBox="1"/>
              <p:nvPr/>
            </p:nvSpPr>
            <p:spPr>
              <a:xfrm>
                <a:off x="0" y="-38100"/>
                <a:ext cx="174911" cy="452575"/>
              </a:xfrm>
              <a:prstGeom prst="rect">
                <a:avLst/>
              </a:prstGeom>
            </p:spPr>
            <p:txBody>
              <a:bodyPr lIns="50800" tIns="50800" rIns="50800" bIns="50800" rtlCol="0" anchor="ctr"/>
              <a:lstStyle/>
              <a:p>
                <a:pPr algn="ctr">
                  <a:lnSpc>
                    <a:spcPts val="2659"/>
                  </a:lnSpc>
                  <a:spcBef>
                    <a:spcPct val="0"/>
                  </a:spcBef>
                </a:pPr>
                <a:endParaRPr/>
              </a:p>
            </p:txBody>
          </p:sp>
        </p:grpSp>
      </p:grpSp>
      <p:sp>
        <p:nvSpPr>
          <p:cNvPr id="29" name="TextBox 29"/>
          <p:cNvSpPr txBox="1"/>
          <p:nvPr/>
        </p:nvSpPr>
        <p:spPr>
          <a:xfrm>
            <a:off x="6671103" y="1014706"/>
            <a:ext cx="4945794" cy="1143000"/>
          </a:xfrm>
          <a:prstGeom prst="rect">
            <a:avLst/>
          </a:prstGeom>
        </p:spPr>
        <p:txBody>
          <a:bodyPr lIns="0" tIns="0" rIns="0" bIns="0" rtlCol="0" anchor="t">
            <a:spAutoFit/>
          </a:bodyPr>
          <a:lstStyle/>
          <a:p>
            <a:pPr algn="ctr">
              <a:lnSpc>
                <a:spcPts val="8400"/>
              </a:lnSpc>
              <a:spcBef>
                <a:spcPct val="0"/>
              </a:spcBef>
            </a:pPr>
            <a:r>
              <a:rPr lang="en-US" sz="6000">
                <a:solidFill>
                  <a:srgbClr val="000000"/>
                </a:solidFill>
                <a:latin typeface="Luciole"/>
                <a:ea typeface="Luciole"/>
                <a:cs typeface="Luciole"/>
                <a:sym typeface="Luciole"/>
              </a:rPr>
              <a:t>OVERVIEW</a:t>
            </a:r>
          </a:p>
        </p:txBody>
      </p:sp>
      <p:sp>
        <p:nvSpPr>
          <p:cNvPr id="30" name="TextBox 30"/>
          <p:cNvSpPr txBox="1"/>
          <p:nvPr/>
        </p:nvSpPr>
        <p:spPr>
          <a:xfrm>
            <a:off x="5466900" y="2721793"/>
            <a:ext cx="7354201" cy="4443363"/>
          </a:xfrm>
          <a:prstGeom prst="rect">
            <a:avLst/>
          </a:prstGeom>
        </p:spPr>
        <p:txBody>
          <a:bodyPr lIns="0" tIns="0" rIns="0" bIns="0" rtlCol="0" anchor="t">
            <a:spAutoFit/>
          </a:bodyPr>
          <a:lstStyle/>
          <a:p>
            <a:pPr marL="896840" lvl="1" indent="-448420" algn="just">
              <a:lnSpc>
                <a:spcPts val="8307"/>
              </a:lnSpc>
              <a:buFont typeface="Arial"/>
              <a:buChar char="•"/>
            </a:pPr>
            <a:r>
              <a:rPr lang="en-US" sz="4153">
                <a:solidFill>
                  <a:srgbClr val="000000"/>
                </a:solidFill>
                <a:latin typeface="Luciole"/>
                <a:ea typeface="Luciole"/>
                <a:cs typeface="Luciole"/>
                <a:sym typeface="Luciole"/>
              </a:rPr>
              <a:t>Objectives</a:t>
            </a:r>
          </a:p>
          <a:p>
            <a:pPr marL="896840" lvl="1" indent="-448420" algn="just">
              <a:lnSpc>
                <a:spcPts val="10384"/>
              </a:lnSpc>
              <a:buFont typeface="Arial"/>
              <a:buChar char="•"/>
            </a:pPr>
            <a:r>
              <a:rPr lang="en-US" sz="4153">
                <a:solidFill>
                  <a:srgbClr val="000000"/>
                </a:solidFill>
                <a:latin typeface="Luciole"/>
                <a:ea typeface="Luciole"/>
                <a:cs typeface="Luciole"/>
                <a:sym typeface="Luciole"/>
              </a:rPr>
              <a:t>Block Diagram</a:t>
            </a:r>
          </a:p>
          <a:p>
            <a:pPr marL="896840" lvl="1" indent="-448420" algn="just">
              <a:lnSpc>
                <a:spcPts val="8307"/>
              </a:lnSpc>
              <a:buFont typeface="Arial"/>
              <a:buChar char="•"/>
            </a:pPr>
            <a:r>
              <a:rPr lang="en-US" sz="4153">
                <a:solidFill>
                  <a:srgbClr val="000000"/>
                </a:solidFill>
                <a:latin typeface="Luciole"/>
                <a:ea typeface="Luciole"/>
                <a:cs typeface="Luciole"/>
                <a:sym typeface="Luciole"/>
              </a:rPr>
              <a:t>Literature Survey</a:t>
            </a:r>
          </a:p>
          <a:p>
            <a:pPr marL="896840" lvl="1" indent="-448420" algn="just">
              <a:lnSpc>
                <a:spcPts val="8307"/>
              </a:lnSpc>
              <a:buFont typeface="Arial"/>
              <a:buChar char="•"/>
            </a:pPr>
            <a:r>
              <a:rPr lang="en-US" sz="4153">
                <a:solidFill>
                  <a:srgbClr val="000000"/>
                </a:solidFill>
                <a:latin typeface="Luciole"/>
                <a:ea typeface="Luciole"/>
                <a:cs typeface="Luciole"/>
                <a:sym typeface="Luciole"/>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8371159"/>
            <a:ext cx="1798017" cy="2810178"/>
            <a:chOff x="0" y="0"/>
            <a:chExt cx="2397356" cy="3746904"/>
          </a:xfrm>
        </p:grpSpPr>
        <p:grpSp>
          <p:nvGrpSpPr>
            <p:cNvPr id="3" name="Group 3"/>
            <p:cNvGrpSpPr/>
            <p:nvPr/>
          </p:nvGrpSpPr>
          <p:grpSpPr>
            <a:xfrm>
              <a:off x="0" y="0"/>
              <a:ext cx="885486" cy="3746904"/>
              <a:chOff x="0" y="0"/>
              <a:chExt cx="174911" cy="740129"/>
            </a:xfrm>
          </p:grpSpPr>
          <p:sp>
            <p:nvSpPr>
              <p:cNvPr id="4" name="Freeform 4"/>
              <p:cNvSpPr/>
              <p:nvPr/>
            </p:nvSpPr>
            <p:spPr>
              <a:xfrm>
                <a:off x="0" y="0"/>
                <a:ext cx="174911" cy="740129"/>
              </a:xfrm>
              <a:custGeom>
                <a:avLst/>
                <a:gdLst/>
                <a:ahLst/>
                <a:cxnLst/>
                <a:rect l="l" t="t" r="r" b="b"/>
                <a:pathLst>
                  <a:path w="174911" h="740129">
                    <a:moveTo>
                      <a:pt x="87455" y="0"/>
                    </a:moveTo>
                    <a:lnTo>
                      <a:pt x="87455" y="0"/>
                    </a:lnTo>
                    <a:cubicBezTo>
                      <a:pt x="135756" y="0"/>
                      <a:pt x="174911" y="39155"/>
                      <a:pt x="174911" y="87455"/>
                    </a:cubicBezTo>
                    <a:lnTo>
                      <a:pt x="174911" y="652674"/>
                    </a:lnTo>
                    <a:cubicBezTo>
                      <a:pt x="174911" y="675868"/>
                      <a:pt x="165697" y="698113"/>
                      <a:pt x="149296" y="714514"/>
                    </a:cubicBezTo>
                    <a:cubicBezTo>
                      <a:pt x="132895" y="730915"/>
                      <a:pt x="110650" y="740129"/>
                      <a:pt x="87455" y="740129"/>
                    </a:cubicBezTo>
                    <a:lnTo>
                      <a:pt x="87455" y="740129"/>
                    </a:lnTo>
                    <a:cubicBezTo>
                      <a:pt x="64261" y="740129"/>
                      <a:pt x="42016" y="730915"/>
                      <a:pt x="25615" y="714514"/>
                    </a:cubicBezTo>
                    <a:cubicBezTo>
                      <a:pt x="9214" y="698113"/>
                      <a:pt x="0" y="675868"/>
                      <a:pt x="0" y="652674"/>
                    </a:cubicBezTo>
                    <a:lnTo>
                      <a:pt x="0" y="87455"/>
                    </a:lnTo>
                    <a:cubicBezTo>
                      <a:pt x="0" y="64261"/>
                      <a:pt x="9214" y="42016"/>
                      <a:pt x="25615" y="25615"/>
                    </a:cubicBezTo>
                    <a:cubicBezTo>
                      <a:pt x="42016" y="9214"/>
                      <a:pt x="64261" y="0"/>
                      <a:pt x="87455" y="0"/>
                    </a:cubicBezTo>
                    <a:close/>
                  </a:path>
                </a:pathLst>
              </a:custGeom>
              <a:solidFill>
                <a:srgbClr val="000000">
                  <a:alpha val="0"/>
                </a:srgbClr>
              </a:solidFill>
              <a:ln w="38100" cap="rnd">
                <a:solidFill>
                  <a:srgbClr val="6C584C"/>
                </a:solidFill>
                <a:prstDash val="solid"/>
                <a:round/>
              </a:ln>
            </p:spPr>
            <p:txBody>
              <a:bodyPr/>
              <a:lstStyle/>
              <a:p>
                <a:endParaRPr lang="en-IN"/>
              </a:p>
            </p:txBody>
          </p:sp>
          <p:sp>
            <p:nvSpPr>
              <p:cNvPr id="5" name="TextBox 5"/>
              <p:cNvSpPr txBox="1"/>
              <p:nvPr/>
            </p:nvSpPr>
            <p:spPr>
              <a:xfrm>
                <a:off x="0" y="-38100"/>
                <a:ext cx="174911" cy="778229"/>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11870" y="0"/>
              <a:ext cx="885486" cy="2098277"/>
              <a:chOff x="0" y="0"/>
              <a:chExt cx="174911" cy="414475"/>
            </a:xfrm>
          </p:grpSpPr>
          <p:sp>
            <p:nvSpPr>
              <p:cNvPr id="7" name="Freeform 7"/>
              <p:cNvSpPr/>
              <p:nvPr/>
            </p:nvSpPr>
            <p:spPr>
              <a:xfrm>
                <a:off x="0" y="0"/>
                <a:ext cx="174911" cy="414475"/>
              </a:xfrm>
              <a:custGeom>
                <a:avLst/>
                <a:gdLst/>
                <a:ahLst/>
                <a:cxnLst/>
                <a:rect l="l" t="t" r="r" b="b"/>
                <a:pathLst>
                  <a:path w="174911" h="414475">
                    <a:moveTo>
                      <a:pt x="87455" y="0"/>
                    </a:moveTo>
                    <a:lnTo>
                      <a:pt x="87455" y="0"/>
                    </a:lnTo>
                    <a:cubicBezTo>
                      <a:pt x="135756" y="0"/>
                      <a:pt x="174911" y="39155"/>
                      <a:pt x="174911" y="87455"/>
                    </a:cubicBezTo>
                    <a:lnTo>
                      <a:pt x="174911" y="327019"/>
                    </a:lnTo>
                    <a:cubicBezTo>
                      <a:pt x="174911" y="350214"/>
                      <a:pt x="165697" y="372458"/>
                      <a:pt x="149296" y="388859"/>
                    </a:cubicBezTo>
                    <a:cubicBezTo>
                      <a:pt x="132895" y="405261"/>
                      <a:pt x="110650" y="414475"/>
                      <a:pt x="87455" y="414475"/>
                    </a:cubicBezTo>
                    <a:lnTo>
                      <a:pt x="87455" y="414475"/>
                    </a:lnTo>
                    <a:cubicBezTo>
                      <a:pt x="39155" y="414475"/>
                      <a:pt x="0" y="375319"/>
                      <a:pt x="0" y="327019"/>
                    </a:cubicBezTo>
                    <a:lnTo>
                      <a:pt x="0" y="87455"/>
                    </a:lnTo>
                    <a:cubicBezTo>
                      <a:pt x="0" y="64261"/>
                      <a:pt x="9214" y="42016"/>
                      <a:pt x="25615" y="25615"/>
                    </a:cubicBezTo>
                    <a:cubicBezTo>
                      <a:pt x="42016" y="9214"/>
                      <a:pt x="64261" y="0"/>
                      <a:pt x="87455" y="0"/>
                    </a:cubicBezTo>
                    <a:close/>
                  </a:path>
                </a:pathLst>
              </a:custGeom>
              <a:solidFill>
                <a:srgbClr val="6C584C"/>
              </a:solidFill>
            </p:spPr>
            <p:txBody>
              <a:bodyPr/>
              <a:lstStyle/>
              <a:p>
                <a:endParaRPr lang="en-IN"/>
              </a:p>
            </p:txBody>
          </p:sp>
          <p:sp>
            <p:nvSpPr>
              <p:cNvPr id="8" name="TextBox 8"/>
              <p:cNvSpPr txBox="1"/>
              <p:nvPr/>
            </p:nvSpPr>
            <p:spPr>
              <a:xfrm>
                <a:off x="0" y="-38100"/>
                <a:ext cx="174911" cy="452575"/>
              </a:xfrm>
              <a:prstGeom prst="rect">
                <a:avLst/>
              </a:prstGeom>
            </p:spPr>
            <p:txBody>
              <a:bodyPr lIns="50800" tIns="50800" rIns="50800" bIns="50800" rtlCol="0" anchor="ctr"/>
              <a:lstStyle/>
              <a:p>
                <a:pPr algn="ctr">
                  <a:lnSpc>
                    <a:spcPts val="2659"/>
                  </a:lnSpc>
                  <a:spcBef>
                    <a:spcPct val="0"/>
                  </a:spcBef>
                </a:pPr>
                <a:endParaRPr/>
              </a:p>
            </p:txBody>
          </p:sp>
        </p:grpSp>
      </p:grpSp>
      <p:sp>
        <p:nvSpPr>
          <p:cNvPr id="9" name="TextBox 9"/>
          <p:cNvSpPr txBox="1"/>
          <p:nvPr/>
        </p:nvSpPr>
        <p:spPr>
          <a:xfrm>
            <a:off x="5606445" y="800100"/>
            <a:ext cx="7075109" cy="1143000"/>
          </a:xfrm>
          <a:prstGeom prst="rect">
            <a:avLst/>
          </a:prstGeom>
        </p:spPr>
        <p:txBody>
          <a:bodyPr lIns="0" tIns="0" rIns="0" bIns="0" rtlCol="0" anchor="t">
            <a:spAutoFit/>
          </a:bodyPr>
          <a:lstStyle/>
          <a:p>
            <a:pPr algn="ctr">
              <a:lnSpc>
                <a:spcPts val="8400"/>
              </a:lnSpc>
              <a:spcBef>
                <a:spcPct val="0"/>
              </a:spcBef>
            </a:pPr>
            <a:r>
              <a:rPr lang="en-US" sz="6000">
                <a:solidFill>
                  <a:srgbClr val="000000"/>
                </a:solidFill>
                <a:latin typeface="Luciole"/>
                <a:ea typeface="Luciole"/>
                <a:cs typeface="Luciole"/>
                <a:sym typeface="Luciole"/>
              </a:rPr>
              <a:t>OBJECTIVES</a:t>
            </a:r>
          </a:p>
        </p:txBody>
      </p:sp>
      <p:sp>
        <p:nvSpPr>
          <p:cNvPr id="10" name="TextBox 10"/>
          <p:cNvSpPr txBox="1"/>
          <p:nvPr/>
        </p:nvSpPr>
        <p:spPr>
          <a:xfrm>
            <a:off x="1478622" y="2197621"/>
            <a:ext cx="15330756" cy="7374958"/>
          </a:xfrm>
          <a:prstGeom prst="rect">
            <a:avLst/>
          </a:prstGeom>
        </p:spPr>
        <p:txBody>
          <a:bodyPr lIns="0" tIns="0" rIns="0" bIns="0" rtlCol="0" anchor="t">
            <a:spAutoFit/>
          </a:bodyPr>
          <a:lstStyle/>
          <a:p>
            <a:pPr marL="729819" lvl="1" indent="-364909" algn="just">
              <a:lnSpc>
                <a:spcPts val="8450"/>
              </a:lnSpc>
              <a:buFont typeface="Arial"/>
              <a:buChar char="•"/>
            </a:pPr>
            <a:r>
              <a:rPr lang="en-US" sz="3380">
                <a:solidFill>
                  <a:srgbClr val="000000"/>
                </a:solidFill>
                <a:latin typeface="Luciole"/>
                <a:ea typeface="Luciole"/>
                <a:cs typeface="Luciole"/>
                <a:sym typeface="Luciole"/>
              </a:rPr>
              <a:t>To develop a digital locking system using only digital logic circuits</a:t>
            </a:r>
          </a:p>
          <a:p>
            <a:pPr marL="729819" lvl="1" indent="-364909" algn="just">
              <a:lnSpc>
                <a:spcPts val="8450"/>
              </a:lnSpc>
              <a:buFont typeface="Arial"/>
              <a:buChar char="•"/>
            </a:pPr>
            <a:r>
              <a:rPr lang="en-US" sz="3380">
                <a:solidFill>
                  <a:srgbClr val="000000"/>
                </a:solidFill>
                <a:latin typeface="Luciole"/>
                <a:ea typeface="Luciole"/>
                <a:cs typeface="Luciole"/>
                <a:sym typeface="Luciole"/>
              </a:rPr>
              <a:t>To integrate a keypad for password entry</a:t>
            </a:r>
          </a:p>
          <a:p>
            <a:pPr marL="729819" lvl="1" indent="-364909" algn="just">
              <a:lnSpc>
                <a:spcPts val="8450"/>
              </a:lnSpc>
              <a:buFont typeface="Arial"/>
              <a:buChar char="•"/>
            </a:pPr>
            <a:r>
              <a:rPr lang="en-US" sz="3380">
                <a:solidFill>
                  <a:srgbClr val="000000"/>
                </a:solidFill>
                <a:latin typeface="Luciole"/>
                <a:ea typeface="Luciole"/>
                <a:cs typeface="Luciole"/>
                <a:sym typeface="Luciole"/>
              </a:rPr>
              <a:t>To make the saved password customizable </a:t>
            </a:r>
          </a:p>
          <a:p>
            <a:pPr marL="729819" lvl="1" indent="-364909" algn="just">
              <a:lnSpc>
                <a:spcPts val="8450"/>
              </a:lnSpc>
              <a:buFont typeface="Arial"/>
              <a:buChar char="•"/>
            </a:pPr>
            <a:r>
              <a:rPr lang="en-US" sz="3380">
                <a:solidFill>
                  <a:srgbClr val="000000"/>
                </a:solidFill>
                <a:latin typeface="Luciole"/>
                <a:ea typeface="Luciole"/>
                <a:cs typeface="Luciole"/>
                <a:sym typeface="Luciole"/>
              </a:rPr>
              <a:t>To provide visual and audio indication for password verification</a:t>
            </a:r>
          </a:p>
          <a:p>
            <a:pPr marL="729819" lvl="1" indent="-364909" algn="just">
              <a:lnSpc>
                <a:spcPts val="8450"/>
              </a:lnSpc>
              <a:buFont typeface="Arial"/>
              <a:buChar char="•"/>
            </a:pPr>
            <a:r>
              <a:rPr lang="en-US" sz="3380">
                <a:solidFill>
                  <a:srgbClr val="000000"/>
                </a:solidFill>
                <a:latin typeface="Luciole"/>
                <a:ea typeface="Luciole"/>
                <a:cs typeface="Luciole"/>
                <a:sym typeface="Luciole"/>
              </a:rPr>
              <a:t>To test logic sequence, reset, and correct code detection mechanisms.</a:t>
            </a:r>
          </a:p>
          <a:p>
            <a:pPr algn="just">
              <a:lnSpc>
                <a:spcPts val="8200"/>
              </a:lnSpc>
            </a:pPr>
            <a:endParaRPr lang="en-US" sz="3380">
              <a:solidFill>
                <a:srgbClr val="000000"/>
              </a:solidFill>
              <a:latin typeface="Luciole"/>
              <a:ea typeface="Luciole"/>
              <a:cs typeface="Luciole"/>
              <a:sym typeface="Luciol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356080" y="-376389"/>
            <a:ext cx="2931920" cy="2810178"/>
            <a:chOff x="0" y="0"/>
            <a:chExt cx="3909226" cy="3746904"/>
          </a:xfrm>
        </p:grpSpPr>
        <p:grpSp>
          <p:nvGrpSpPr>
            <p:cNvPr id="3" name="Group 3"/>
            <p:cNvGrpSpPr/>
            <p:nvPr/>
          </p:nvGrpSpPr>
          <p:grpSpPr>
            <a:xfrm>
              <a:off x="0" y="0"/>
              <a:ext cx="885486" cy="3011111"/>
              <a:chOff x="0" y="0"/>
              <a:chExt cx="174911" cy="594787"/>
            </a:xfrm>
          </p:grpSpPr>
          <p:sp>
            <p:nvSpPr>
              <p:cNvPr id="4" name="Freeform 4"/>
              <p:cNvSpPr/>
              <p:nvPr/>
            </p:nvSpPr>
            <p:spPr>
              <a:xfrm>
                <a:off x="0" y="0"/>
                <a:ext cx="174911" cy="594787"/>
              </a:xfrm>
              <a:custGeom>
                <a:avLst/>
                <a:gdLst/>
                <a:ahLst/>
                <a:cxnLst/>
                <a:rect l="l" t="t" r="r" b="b"/>
                <a:pathLst>
                  <a:path w="174911" h="594787">
                    <a:moveTo>
                      <a:pt x="87455" y="0"/>
                    </a:moveTo>
                    <a:lnTo>
                      <a:pt x="87455" y="0"/>
                    </a:lnTo>
                    <a:cubicBezTo>
                      <a:pt x="135756" y="0"/>
                      <a:pt x="174911" y="39155"/>
                      <a:pt x="174911" y="87455"/>
                    </a:cubicBezTo>
                    <a:lnTo>
                      <a:pt x="174911" y="507332"/>
                    </a:lnTo>
                    <a:cubicBezTo>
                      <a:pt x="174911" y="530526"/>
                      <a:pt x="165697" y="552771"/>
                      <a:pt x="149296" y="569172"/>
                    </a:cubicBezTo>
                    <a:cubicBezTo>
                      <a:pt x="132895" y="585573"/>
                      <a:pt x="110650" y="594787"/>
                      <a:pt x="87455" y="594787"/>
                    </a:cubicBezTo>
                    <a:lnTo>
                      <a:pt x="87455" y="594787"/>
                    </a:lnTo>
                    <a:cubicBezTo>
                      <a:pt x="39155" y="594787"/>
                      <a:pt x="0" y="555632"/>
                      <a:pt x="0" y="507332"/>
                    </a:cubicBezTo>
                    <a:lnTo>
                      <a:pt x="0" y="87455"/>
                    </a:lnTo>
                    <a:cubicBezTo>
                      <a:pt x="0" y="64261"/>
                      <a:pt x="9214" y="42016"/>
                      <a:pt x="25615" y="25615"/>
                    </a:cubicBezTo>
                    <a:cubicBezTo>
                      <a:pt x="42016" y="9214"/>
                      <a:pt x="64261" y="0"/>
                      <a:pt x="87455" y="0"/>
                    </a:cubicBezTo>
                    <a:close/>
                  </a:path>
                </a:pathLst>
              </a:custGeom>
              <a:solidFill>
                <a:srgbClr val="61C8A3"/>
              </a:solidFill>
            </p:spPr>
            <p:txBody>
              <a:bodyPr/>
              <a:lstStyle/>
              <a:p>
                <a:endParaRPr lang="en-IN"/>
              </a:p>
            </p:txBody>
          </p:sp>
          <p:sp>
            <p:nvSpPr>
              <p:cNvPr id="5" name="TextBox 5"/>
              <p:cNvSpPr txBox="1"/>
              <p:nvPr/>
            </p:nvSpPr>
            <p:spPr>
              <a:xfrm>
                <a:off x="0" y="-38100"/>
                <a:ext cx="174911" cy="63288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11870" y="0"/>
              <a:ext cx="885486" cy="3746904"/>
              <a:chOff x="0" y="0"/>
              <a:chExt cx="174911" cy="740129"/>
            </a:xfrm>
          </p:grpSpPr>
          <p:sp>
            <p:nvSpPr>
              <p:cNvPr id="7" name="Freeform 7"/>
              <p:cNvSpPr/>
              <p:nvPr/>
            </p:nvSpPr>
            <p:spPr>
              <a:xfrm>
                <a:off x="0" y="0"/>
                <a:ext cx="174911" cy="740129"/>
              </a:xfrm>
              <a:custGeom>
                <a:avLst/>
                <a:gdLst/>
                <a:ahLst/>
                <a:cxnLst/>
                <a:rect l="l" t="t" r="r" b="b"/>
                <a:pathLst>
                  <a:path w="174911" h="740129">
                    <a:moveTo>
                      <a:pt x="87455" y="0"/>
                    </a:moveTo>
                    <a:lnTo>
                      <a:pt x="87455" y="0"/>
                    </a:lnTo>
                    <a:cubicBezTo>
                      <a:pt x="135756" y="0"/>
                      <a:pt x="174911" y="39155"/>
                      <a:pt x="174911" y="87455"/>
                    </a:cubicBezTo>
                    <a:lnTo>
                      <a:pt x="174911" y="652674"/>
                    </a:lnTo>
                    <a:cubicBezTo>
                      <a:pt x="174911" y="675868"/>
                      <a:pt x="165697" y="698113"/>
                      <a:pt x="149296" y="714514"/>
                    </a:cubicBezTo>
                    <a:cubicBezTo>
                      <a:pt x="132895" y="730915"/>
                      <a:pt x="110650" y="740129"/>
                      <a:pt x="87455" y="740129"/>
                    </a:cubicBezTo>
                    <a:lnTo>
                      <a:pt x="87455" y="740129"/>
                    </a:lnTo>
                    <a:cubicBezTo>
                      <a:pt x="64261" y="740129"/>
                      <a:pt x="42016" y="730915"/>
                      <a:pt x="25615" y="714514"/>
                    </a:cubicBezTo>
                    <a:cubicBezTo>
                      <a:pt x="9214" y="698113"/>
                      <a:pt x="0" y="675868"/>
                      <a:pt x="0" y="652674"/>
                    </a:cubicBezTo>
                    <a:lnTo>
                      <a:pt x="0" y="87455"/>
                    </a:lnTo>
                    <a:cubicBezTo>
                      <a:pt x="0" y="64261"/>
                      <a:pt x="9214" y="42016"/>
                      <a:pt x="25615" y="25615"/>
                    </a:cubicBezTo>
                    <a:cubicBezTo>
                      <a:pt x="42016" y="9214"/>
                      <a:pt x="64261" y="0"/>
                      <a:pt x="87455" y="0"/>
                    </a:cubicBezTo>
                    <a:close/>
                  </a:path>
                </a:pathLst>
              </a:custGeom>
              <a:solidFill>
                <a:srgbClr val="000000">
                  <a:alpha val="0"/>
                </a:srgbClr>
              </a:solidFill>
              <a:ln w="38100" cap="rnd">
                <a:solidFill>
                  <a:srgbClr val="6C584C"/>
                </a:solidFill>
                <a:prstDash val="solid"/>
                <a:round/>
              </a:ln>
            </p:spPr>
            <p:txBody>
              <a:bodyPr/>
              <a:lstStyle/>
              <a:p>
                <a:endParaRPr lang="en-IN"/>
              </a:p>
            </p:txBody>
          </p:sp>
          <p:sp>
            <p:nvSpPr>
              <p:cNvPr id="8" name="TextBox 8"/>
              <p:cNvSpPr txBox="1"/>
              <p:nvPr/>
            </p:nvSpPr>
            <p:spPr>
              <a:xfrm>
                <a:off x="0" y="-38100"/>
                <a:ext cx="174911" cy="778229"/>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3023740" y="0"/>
              <a:ext cx="885486" cy="2098277"/>
              <a:chOff x="0" y="0"/>
              <a:chExt cx="174911" cy="414475"/>
            </a:xfrm>
          </p:grpSpPr>
          <p:sp>
            <p:nvSpPr>
              <p:cNvPr id="10" name="Freeform 10"/>
              <p:cNvSpPr/>
              <p:nvPr/>
            </p:nvSpPr>
            <p:spPr>
              <a:xfrm>
                <a:off x="0" y="0"/>
                <a:ext cx="174911" cy="414475"/>
              </a:xfrm>
              <a:custGeom>
                <a:avLst/>
                <a:gdLst/>
                <a:ahLst/>
                <a:cxnLst/>
                <a:rect l="l" t="t" r="r" b="b"/>
                <a:pathLst>
                  <a:path w="174911" h="414475">
                    <a:moveTo>
                      <a:pt x="87455" y="0"/>
                    </a:moveTo>
                    <a:lnTo>
                      <a:pt x="87455" y="0"/>
                    </a:lnTo>
                    <a:cubicBezTo>
                      <a:pt x="135756" y="0"/>
                      <a:pt x="174911" y="39155"/>
                      <a:pt x="174911" y="87455"/>
                    </a:cubicBezTo>
                    <a:lnTo>
                      <a:pt x="174911" y="327019"/>
                    </a:lnTo>
                    <a:cubicBezTo>
                      <a:pt x="174911" y="350214"/>
                      <a:pt x="165697" y="372458"/>
                      <a:pt x="149296" y="388859"/>
                    </a:cubicBezTo>
                    <a:cubicBezTo>
                      <a:pt x="132895" y="405261"/>
                      <a:pt x="110650" y="414475"/>
                      <a:pt x="87455" y="414475"/>
                    </a:cubicBezTo>
                    <a:lnTo>
                      <a:pt x="87455" y="414475"/>
                    </a:lnTo>
                    <a:cubicBezTo>
                      <a:pt x="39155" y="414475"/>
                      <a:pt x="0" y="375319"/>
                      <a:pt x="0" y="327019"/>
                    </a:cubicBezTo>
                    <a:lnTo>
                      <a:pt x="0" y="87455"/>
                    </a:lnTo>
                    <a:cubicBezTo>
                      <a:pt x="0" y="64261"/>
                      <a:pt x="9214" y="42016"/>
                      <a:pt x="25615" y="25615"/>
                    </a:cubicBezTo>
                    <a:cubicBezTo>
                      <a:pt x="42016" y="9214"/>
                      <a:pt x="64261" y="0"/>
                      <a:pt x="87455" y="0"/>
                    </a:cubicBezTo>
                    <a:close/>
                  </a:path>
                </a:pathLst>
              </a:custGeom>
              <a:solidFill>
                <a:srgbClr val="6C584C"/>
              </a:solidFill>
            </p:spPr>
            <p:txBody>
              <a:bodyPr/>
              <a:lstStyle/>
              <a:p>
                <a:endParaRPr lang="en-IN"/>
              </a:p>
            </p:txBody>
          </p:sp>
          <p:sp>
            <p:nvSpPr>
              <p:cNvPr id="11" name="TextBox 11"/>
              <p:cNvSpPr txBox="1"/>
              <p:nvPr/>
            </p:nvSpPr>
            <p:spPr>
              <a:xfrm>
                <a:off x="0" y="-38100"/>
                <a:ext cx="174911" cy="452575"/>
              </a:xfrm>
              <a:prstGeom prst="rect">
                <a:avLst/>
              </a:prstGeom>
            </p:spPr>
            <p:txBody>
              <a:bodyPr lIns="50800" tIns="50800" rIns="50800" bIns="50800" rtlCol="0" anchor="ctr"/>
              <a:lstStyle/>
              <a:p>
                <a:pPr algn="ctr">
                  <a:lnSpc>
                    <a:spcPts val="2659"/>
                  </a:lnSpc>
                  <a:spcBef>
                    <a:spcPct val="0"/>
                  </a:spcBef>
                </a:pPr>
                <a:endParaRPr/>
              </a:p>
            </p:txBody>
          </p:sp>
        </p:grpSp>
      </p:grpSp>
      <p:sp>
        <p:nvSpPr>
          <p:cNvPr id="12" name="TextBox 12"/>
          <p:cNvSpPr txBox="1"/>
          <p:nvPr/>
        </p:nvSpPr>
        <p:spPr>
          <a:xfrm>
            <a:off x="1299591" y="342900"/>
            <a:ext cx="6977830" cy="1143000"/>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Luciole"/>
                <a:ea typeface="Luciole"/>
                <a:cs typeface="Luciole"/>
                <a:sym typeface="Luciole"/>
              </a:rPr>
              <a:t>BLOCK DIAGRAM</a:t>
            </a:r>
          </a:p>
        </p:txBody>
      </p:sp>
      <p:sp>
        <p:nvSpPr>
          <p:cNvPr id="13" name="Freeform 13"/>
          <p:cNvSpPr/>
          <p:nvPr/>
        </p:nvSpPr>
        <p:spPr>
          <a:xfrm>
            <a:off x="1637471" y="1788838"/>
            <a:ext cx="14867778" cy="7292311"/>
          </a:xfrm>
          <a:custGeom>
            <a:avLst/>
            <a:gdLst/>
            <a:ahLst/>
            <a:cxnLst/>
            <a:rect l="l" t="t" r="r" b="b"/>
            <a:pathLst>
              <a:path w="14867778" h="7292311">
                <a:moveTo>
                  <a:pt x="0" y="0"/>
                </a:moveTo>
                <a:lnTo>
                  <a:pt x="14867779" y="0"/>
                </a:lnTo>
                <a:lnTo>
                  <a:pt x="14867779" y="7292311"/>
                </a:lnTo>
                <a:lnTo>
                  <a:pt x="0" y="7292311"/>
                </a:lnTo>
                <a:lnTo>
                  <a:pt x="0" y="0"/>
                </a:lnTo>
                <a:close/>
              </a:path>
            </a:pathLst>
          </a:custGeom>
          <a:blipFill>
            <a:blip r:embed="rId2"/>
            <a:stretch>
              <a:fillRect t="-516" b="-516"/>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39711" y="1174963"/>
          <a:ext cx="17008577" cy="8817593"/>
        </p:xfrm>
        <a:graphic>
          <a:graphicData uri="http://schemas.openxmlformats.org/drawingml/2006/table">
            <a:tbl>
              <a:tblPr/>
              <a:tblGrid>
                <a:gridCol w="3466877">
                  <a:extLst>
                    <a:ext uri="{9D8B030D-6E8A-4147-A177-3AD203B41FA5}">
                      <a16:colId xmlns:a16="http://schemas.microsoft.com/office/drawing/2014/main" val="20000"/>
                    </a:ext>
                  </a:extLst>
                </a:gridCol>
                <a:gridCol w="3023432">
                  <a:extLst>
                    <a:ext uri="{9D8B030D-6E8A-4147-A177-3AD203B41FA5}">
                      <a16:colId xmlns:a16="http://schemas.microsoft.com/office/drawing/2014/main" val="20001"/>
                    </a:ext>
                  </a:extLst>
                </a:gridCol>
                <a:gridCol w="3466877">
                  <a:extLst>
                    <a:ext uri="{9D8B030D-6E8A-4147-A177-3AD203B41FA5}">
                      <a16:colId xmlns:a16="http://schemas.microsoft.com/office/drawing/2014/main" val="20002"/>
                    </a:ext>
                  </a:extLst>
                </a:gridCol>
                <a:gridCol w="7051391">
                  <a:extLst>
                    <a:ext uri="{9D8B030D-6E8A-4147-A177-3AD203B41FA5}">
                      <a16:colId xmlns:a16="http://schemas.microsoft.com/office/drawing/2014/main" val="20003"/>
                    </a:ext>
                  </a:extLst>
                </a:gridCol>
              </a:tblGrid>
              <a:tr h="1170962">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Tile of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gridSpan="2">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hMerge="1">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Inferences from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4465">
                <a:tc rowSpan="2">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Digital Design of a Digital Combination Lock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Authors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Times New Roman MT Bold"/>
                          <a:ea typeface="Times New Roman MT Bold"/>
                          <a:cs typeface="Times New Roman MT Bold"/>
                          <a:sym typeface="Times New Roman MT Bold"/>
                        </a:rPr>
                        <a:t>Published 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rowSpan="2">
                  <a:txBody>
                    <a:bodyPr/>
                    <a:lstStyle/>
                    <a:p>
                      <a:pPr algn="l">
                        <a:lnSpc>
                          <a:spcPts val="4479"/>
                        </a:lnSpc>
                        <a:defRPr/>
                      </a:pPr>
                      <a:r>
                        <a:rPr lang="en-US" sz="3199">
                          <a:solidFill>
                            <a:srgbClr val="000000"/>
                          </a:solidFill>
                          <a:latin typeface="Times New Roman MT"/>
                          <a:ea typeface="Times New Roman MT"/>
                          <a:cs typeface="Times New Roman MT"/>
                          <a:sym typeface="Times New Roman MT"/>
                        </a:rPr>
                        <a:t>FSM-based 4-digit lock using keypad, multiplexer, timers, and controller. Verifies auto-relock and incorrect-sequence detection—relevant to use of CD4017 counters and reset logic.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42166">
                <a:tc vMerge="1">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Digital Design of a Digital Combination Lock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79"/>
                        </a:lnSpc>
                        <a:defRPr/>
                      </a:pPr>
                      <a:r>
                        <a:rPr lang="en-US" sz="3199">
                          <a:solidFill>
                            <a:srgbClr val="000000"/>
                          </a:solidFill>
                          <a:latin typeface="Times New Roman MT"/>
                          <a:ea typeface="Times New Roman MT"/>
                          <a:cs typeface="Times New Roman MT"/>
                          <a:sym typeface="Times New Roman MT"/>
                        </a:rPr>
                        <a:t>Arnab Pramanik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Int. Journal of Engineering Research and Applied Science (IJERAS), Vol. 1, Issue 1, 2014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vMerge="1">
                  <a:txBody>
                    <a:bodyPr/>
                    <a:lstStyle/>
                    <a:p>
                      <a:pPr algn="l">
                        <a:lnSpc>
                          <a:spcPts val="4479"/>
                        </a:lnSpc>
                        <a:defRPr/>
                      </a:pPr>
                      <a:r>
                        <a:rPr lang="en-US" sz="3199">
                          <a:solidFill>
                            <a:srgbClr val="000000"/>
                          </a:solidFill>
                          <a:latin typeface="Times New Roman MT"/>
                          <a:ea typeface="Times New Roman MT"/>
                          <a:cs typeface="Times New Roman MT"/>
                          <a:sym typeface="Times New Roman MT"/>
                        </a:rPr>
                        <a:t>FSM-based 4-digit lock using keypad, multiplexer, timers, and controller. Verifies auto-relock and incorrect-sequence detection—relevant to use of CD4017 counters and reset logic.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TextBox 3"/>
          <p:cNvSpPr txBox="1"/>
          <p:nvPr/>
        </p:nvSpPr>
        <p:spPr>
          <a:xfrm>
            <a:off x="407639" y="-114300"/>
            <a:ext cx="8254980" cy="1143000"/>
          </a:xfrm>
          <a:prstGeom prst="rect">
            <a:avLst/>
          </a:prstGeom>
        </p:spPr>
        <p:txBody>
          <a:bodyPr lIns="0" tIns="0" rIns="0" bIns="0" rtlCol="0" anchor="t">
            <a:spAutoFit/>
          </a:bodyPr>
          <a:lstStyle/>
          <a:p>
            <a:pPr algn="ctr">
              <a:lnSpc>
                <a:spcPts val="8400"/>
              </a:lnSpc>
              <a:spcBef>
                <a:spcPct val="0"/>
              </a:spcBef>
            </a:pPr>
            <a:r>
              <a:rPr lang="en-US" sz="6000">
                <a:solidFill>
                  <a:srgbClr val="000000"/>
                </a:solidFill>
                <a:latin typeface="Luciole"/>
                <a:ea typeface="Luciole"/>
                <a:cs typeface="Luciole"/>
                <a:sym typeface="Luciole"/>
              </a:rPr>
              <a:t>LITERATURE SURVEY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39711" y="999487"/>
          <a:ext cx="17008577" cy="8258814"/>
        </p:xfrm>
        <a:graphic>
          <a:graphicData uri="http://schemas.openxmlformats.org/drawingml/2006/table">
            <a:tbl>
              <a:tblPr/>
              <a:tblGrid>
                <a:gridCol w="3466877">
                  <a:extLst>
                    <a:ext uri="{9D8B030D-6E8A-4147-A177-3AD203B41FA5}">
                      <a16:colId xmlns:a16="http://schemas.microsoft.com/office/drawing/2014/main" val="20000"/>
                    </a:ext>
                  </a:extLst>
                </a:gridCol>
                <a:gridCol w="3023432">
                  <a:extLst>
                    <a:ext uri="{9D8B030D-6E8A-4147-A177-3AD203B41FA5}">
                      <a16:colId xmlns:a16="http://schemas.microsoft.com/office/drawing/2014/main" val="20001"/>
                    </a:ext>
                  </a:extLst>
                </a:gridCol>
                <a:gridCol w="3245155">
                  <a:extLst>
                    <a:ext uri="{9D8B030D-6E8A-4147-A177-3AD203B41FA5}">
                      <a16:colId xmlns:a16="http://schemas.microsoft.com/office/drawing/2014/main" val="20002"/>
                    </a:ext>
                  </a:extLst>
                </a:gridCol>
                <a:gridCol w="7273113">
                  <a:extLst>
                    <a:ext uri="{9D8B030D-6E8A-4147-A177-3AD203B41FA5}">
                      <a16:colId xmlns:a16="http://schemas.microsoft.com/office/drawing/2014/main" val="20003"/>
                    </a:ext>
                  </a:extLst>
                </a:gridCol>
              </a:tblGrid>
              <a:tr h="1541725">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Tile of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gridSpan="2">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hMerge="1">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Inferences from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32553">
                <a:tc rowSpan="2">
                  <a:txBody>
                    <a:bodyPr/>
                    <a:lstStyle/>
                    <a:p>
                      <a:pPr algn="ctr">
                        <a:lnSpc>
                          <a:spcPts val="5039"/>
                        </a:lnSpc>
                        <a:defRPr/>
                      </a:pPr>
                      <a:r>
                        <a:rPr lang="en-US" sz="3599">
                          <a:solidFill>
                            <a:srgbClr val="000000"/>
                          </a:solidFill>
                          <a:latin typeface="Times New Roman MT"/>
                          <a:ea typeface="Times New Roman MT"/>
                          <a:cs typeface="Times New Roman MT"/>
                          <a:sym typeface="Times New Roman MT"/>
                        </a:rPr>
                        <a:t>Advance Security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Authors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Times New Roman MT Bold"/>
                          <a:ea typeface="Times New Roman MT Bold"/>
                          <a:cs typeface="Times New Roman MT Bold"/>
                          <a:sym typeface="Times New Roman MT Bold"/>
                        </a:rPr>
                        <a:t>Published 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rowSpan="2">
                  <a:txBody>
                    <a:bodyPr/>
                    <a:lstStyle/>
                    <a:p>
                      <a:pPr algn="ctr">
                        <a:lnSpc>
                          <a:spcPts val="4479"/>
                        </a:lnSpc>
                        <a:defRPr/>
                      </a:pPr>
                      <a:r>
                        <a:rPr lang="en-US" sz="3199">
                          <a:solidFill>
                            <a:srgbClr val="000000"/>
                          </a:solidFill>
                          <a:latin typeface="Times New Roman MT"/>
                          <a:ea typeface="Times New Roman MT"/>
                          <a:cs typeface="Times New Roman MT"/>
                          <a:sym typeface="Times New Roman MT"/>
                        </a:rPr>
                        <a:t>Combines keypad and RFID input; incorporates reset after 3 wrong attempts. Buzzer, LEDs, and sound alerts add multi-layered feedback—reset logic and sequential attempts matching discrete 4017-based lock.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84536">
                <a:tc vMerge="1">
                  <a:txBody>
                    <a:bodyPr/>
                    <a:lstStyle/>
                    <a:p>
                      <a:pPr algn="ctr">
                        <a:lnSpc>
                          <a:spcPts val="5039"/>
                        </a:lnSpc>
                        <a:defRPr/>
                      </a:pPr>
                      <a:r>
                        <a:rPr lang="en-US" sz="3599">
                          <a:solidFill>
                            <a:srgbClr val="000000"/>
                          </a:solidFill>
                          <a:latin typeface="Times New Roman MT"/>
                          <a:ea typeface="Times New Roman MT"/>
                          <a:cs typeface="Times New Roman MT"/>
                          <a:sym typeface="Times New Roman MT"/>
                        </a:rPr>
                        <a:t>Advance Security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79"/>
                        </a:lnSpc>
                        <a:defRPr/>
                      </a:pPr>
                      <a:r>
                        <a:rPr lang="en-US" sz="3199">
                          <a:solidFill>
                            <a:srgbClr val="000000"/>
                          </a:solidFill>
                          <a:latin typeface="Times New Roman MT"/>
                          <a:ea typeface="Times New Roman MT"/>
                          <a:cs typeface="Times New Roman MT"/>
                          <a:sym typeface="Times New Roman MT"/>
                        </a:rPr>
                        <a:t> Sangeeta Kurundkar, Gaurav Bhole, Shreyash Bele, Bhagyesh Bhoge, Aditya Bhosale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779"/>
                        </a:lnSpc>
                        <a:defRPr/>
                      </a:pPr>
                      <a:r>
                        <a:rPr lang="en-US" sz="2699">
                          <a:solidFill>
                            <a:srgbClr val="000000"/>
                          </a:solidFill>
                          <a:latin typeface="Times New Roman MT"/>
                          <a:ea typeface="Times New Roman MT"/>
                          <a:cs typeface="Times New Roman MT"/>
                          <a:sym typeface="Times New Roman MT"/>
                        </a:rPr>
                        <a:t>2023 IEEE 8th Int. Conf. for Convergence in Technology (I2CT), Pune, India. doi: 10.1109/I2CT57861.2023.10126415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vMerge="1">
                  <a:txBody>
                    <a:bodyPr/>
                    <a:lstStyle/>
                    <a:p>
                      <a:pPr algn="ctr">
                        <a:lnSpc>
                          <a:spcPts val="4479"/>
                        </a:lnSpc>
                        <a:defRPr/>
                      </a:pPr>
                      <a:r>
                        <a:rPr lang="en-US" sz="3199">
                          <a:solidFill>
                            <a:srgbClr val="000000"/>
                          </a:solidFill>
                          <a:latin typeface="Times New Roman MT"/>
                          <a:ea typeface="Times New Roman MT"/>
                          <a:cs typeface="Times New Roman MT"/>
                          <a:sym typeface="Times New Roman MT"/>
                        </a:rPr>
                        <a:t>Combines keypad and RFID input; incorporates reset after 3 wrong attempts. Buzzer, LEDs, and sound alerts add multi-layered feedback—reset logic and sequential attempts matching discrete 4017-based lock.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19856" y="999487"/>
          <a:ext cx="17648288" cy="8258814"/>
        </p:xfrm>
        <a:graphic>
          <a:graphicData uri="http://schemas.openxmlformats.org/drawingml/2006/table">
            <a:tbl>
              <a:tblPr/>
              <a:tblGrid>
                <a:gridCol w="3466595">
                  <a:extLst>
                    <a:ext uri="{9D8B030D-6E8A-4147-A177-3AD203B41FA5}">
                      <a16:colId xmlns:a16="http://schemas.microsoft.com/office/drawing/2014/main" val="20000"/>
                    </a:ext>
                  </a:extLst>
                </a:gridCol>
                <a:gridCol w="3023186">
                  <a:extLst>
                    <a:ext uri="{9D8B030D-6E8A-4147-A177-3AD203B41FA5}">
                      <a16:colId xmlns:a16="http://schemas.microsoft.com/office/drawing/2014/main" val="20001"/>
                    </a:ext>
                  </a:extLst>
                </a:gridCol>
                <a:gridCol w="3885986">
                  <a:extLst>
                    <a:ext uri="{9D8B030D-6E8A-4147-A177-3AD203B41FA5}">
                      <a16:colId xmlns:a16="http://schemas.microsoft.com/office/drawing/2014/main" val="20002"/>
                    </a:ext>
                  </a:extLst>
                </a:gridCol>
                <a:gridCol w="7272521">
                  <a:extLst>
                    <a:ext uri="{9D8B030D-6E8A-4147-A177-3AD203B41FA5}">
                      <a16:colId xmlns:a16="http://schemas.microsoft.com/office/drawing/2014/main" val="20003"/>
                    </a:ext>
                  </a:extLst>
                </a:gridCol>
              </a:tblGrid>
              <a:tr h="1541725">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Tile of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gridSpan="2">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hMerge="1">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Inferences from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32553">
                <a:tc rowSpan="2">
                  <a:txBody>
                    <a:bodyPr/>
                    <a:lstStyle/>
                    <a:p>
                      <a:pPr algn="ctr">
                        <a:lnSpc>
                          <a:spcPts val="5039"/>
                        </a:lnSpc>
                        <a:defRPr/>
                      </a:pPr>
                      <a:r>
                        <a:rPr lang="en-US" sz="3599">
                          <a:solidFill>
                            <a:srgbClr val="000000"/>
                          </a:solidFill>
                          <a:latin typeface="Times New Roman MT"/>
                          <a:ea typeface="Times New Roman MT"/>
                          <a:cs typeface="Times New Roman MT"/>
                          <a:sym typeface="Times New Roman MT"/>
                        </a:rPr>
                        <a:t>Design and Implementation of an IoT-based Smart Door Lock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Authors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Times New Roman MT Bold"/>
                          <a:ea typeface="Times New Roman MT Bold"/>
                          <a:cs typeface="Times New Roman MT Bold"/>
                          <a:sym typeface="Times New Roman MT Bold"/>
                        </a:rPr>
                        <a:t>Published 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rowSpan="2">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Uses keypad, fingerprint, and voice as 3-tier authentication. Reinforces the concept of combining multiple input validation paths and FSM-style control logic—can be also done using combinational and sequential logic blocks in hardware.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84536">
                <a:tc vMerge="1">
                  <a:txBody>
                    <a:bodyPr/>
                    <a:lstStyle/>
                    <a:p>
                      <a:pPr algn="ctr">
                        <a:lnSpc>
                          <a:spcPts val="5039"/>
                        </a:lnSpc>
                        <a:defRPr/>
                      </a:pPr>
                      <a:r>
                        <a:rPr lang="en-US" sz="3599">
                          <a:solidFill>
                            <a:srgbClr val="000000"/>
                          </a:solidFill>
                          <a:latin typeface="Times New Roman MT"/>
                          <a:ea typeface="Times New Roman MT"/>
                          <a:cs typeface="Times New Roman MT"/>
                          <a:sym typeface="Times New Roman MT"/>
                        </a:rPr>
                        <a:t>Design and Implementation of an IoT-based Smart Door Lock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79"/>
                        </a:lnSpc>
                        <a:defRPr/>
                      </a:pPr>
                      <a:r>
                        <a:rPr lang="en-US" sz="3199">
                          <a:solidFill>
                            <a:srgbClr val="000000"/>
                          </a:solidFill>
                          <a:latin typeface="Times New Roman MT"/>
                          <a:ea typeface="Times New Roman MT"/>
                          <a:cs typeface="Times New Roman MT"/>
                          <a:sym typeface="Times New Roman MT"/>
                        </a:rPr>
                        <a:t> Abdullahi Ahmed,  Jama Mohamed , Mowlid Abdi,  Said Abdulkadir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779"/>
                        </a:lnSpc>
                        <a:defRPr/>
                      </a:pPr>
                      <a:r>
                        <a:rPr lang="en-US" sz="2699">
                          <a:solidFill>
                            <a:srgbClr val="000000"/>
                          </a:solidFill>
                          <a:latin typeface="Times New Roman MT"/>
                          <a:ea typeface="Times New Roman MT"/>
                          <a:cs typeface="Times New Roman MT"/>
                          <a:sym typeface="Times New Roman MT"/>
                        </a:rPr>
                        <a:t>2023 2nd International Conference on Multidisciplinary Engineering and Applied Science (ICMEAS)  IEEE | DOI: 10.1109/ICMEAS58693.2023.10379324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vMerge="1">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Uses keypad, fingerprint, and voice as 3-tier authentication. Reinforces the concept of combining multiple input validation paths and FSM-style control logic—can be also done using combinational and sequential logic blocks in hardware.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39711" y="683909"/>
          <a:ext cx="17008577" cy="8817593"/>
        </p:xfrm>
        <a:graphic>
          <a:graphicData uri="http://schemas.openxmlformats.org/drawingml/2006/table">
            <a:tbl>
              <a:tblPr/>
              <a:tblGrid>
                <a:gridCol w="3466877">
                  <a:extLst>
                    <a:ext uri="{9D8B030D-6E8A-4147-A177-3AD203B41FA5}">
                      <a16:colId xmlns:a16="http://schemas.microsoft.com/office/drawing/2014/main" val="20000"/>
                    </a:ext>
                  </a:extLst>
                </a:gridCol>
                <a:gridCol w="3023432">
                  <a:extLst>
                    <a:ext uri="{9D8B030D-6E8A-4147-A177-3AD203B41FA5}">
                      <a16:colId xmlns:a16="http://schemas.microsoft.com/office/drawing/2014/main" val="20001"/>
                    </a:ext>
                  </a:extLst>
                </a:gridCol>
                <a:gridCol w="3466877">
                  <a:extLst>
                    <a:ext uri="{9D8B030D-6E8A-4147-A177-3AD203B41FA5}">
                      <a16:colId xmlns:a16="http://schemas.microsoft.com/office/drawing/2014/main" val="20002"/>
                    </a:ext>
                  </a:extLst>
                </a:gridCol>
                <a:gridCol w="7051391">
                  <a:extLst>
                    <a:ext uri="{9D8B030D-6E8A-4147-A177-3AD203B41FA5}">
                      <a16:colId xmlns:a16="http://schemas.microsoft.com/office/drawing/2014/main" val="20003"/>
                    </a:ext>
                  </a:extLst>
                </a:gridCol>
              </a:tblGrid>
              <a:tr h="1170962">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Tile of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gridSpan="2">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hMerge="1">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Inferences from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4465">
                <a:tc rowSpan="2">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Development of a Programmable Electronic Digital Code Lock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Authors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Times New Roman MT Bold"/>
                          <a:ea typeface="Times New Roman MT Bold"/>
                          <a:cs typeface="Times New Roman MT Bold"/>
                          <a:sym typeface="Times New Roman MT Bold"/>
                        </a:rPr>
                        <a:t>Published 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rowSpan="2">
                  <a:txBody>
                    <a:bodyPr/>
                    <a:lstStyle/>
                    <a:p>
                      <a:pPr algn="l">
                        <a:lnSpc>
                          <a:spcPts val="4479"/>
                        </a:lnSpc>
                        <a:defRPr/>
                      </a:pPr>
                      <a:r>
                        <a:rPr lang="en-US" sz="3199">
                          <a:solidFill>
                            <a:srgbClr val="000000"/>
                          </a:solidFill>
                          <a:latin typeface="Times New Roman MT"/>
                          <a:ea typeface="Times New Roman MT"/>
                          <a:cs typeface="Times New Roman MT"/>
                          <a:sym typeface="Times New Roman MT"/>
                        </a:rPr>
                        <a:t>Describes keypad interfaced to microcontroller and comparator logic, reset after 4 wrong entries, with programmable code storage. Suggests programmable flexibility in logic which you can implement with switches and logic gates.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42166">
                <a:tc vMerge="1">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Development of a Programmable Electronic Digital Code Lock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79"/>
                        </a:lnSpc>
                        <a:defRPr/>
                      </a:pPr>
                      <a:r>
                        <a:rPr lang="en-US" sz="3199">
                          <a:solidFill>
                            <a:srgbClr val="000000"/>
                          </a:solidFill>
                          <a:latin typeface="Times New Roman MT"/>
                          <a:ea typeface="Times New Roman MT"/>
                          <a:cs typeface="Times New Roman MT"/>
                          <a:sym typeface="Times New Roman MT"/>
                        </a:rPr>
                        <a:t>Oke Alice O., Adigun Adebisi A., Falohun Adeleye S., and Alamu F. O.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Int. Journal of Computer and Information Technology (IJCIT), Vol. 2, Issue 1, Jan. 2013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vMerge="1">
                  <a:txBody>
                    <a:bodyPr/>
                    <a:lstStyle/>
                    <a:p>
                      <a:pPr algn="l">
                        <a:lnSpc>
                          <a:spcPts val="4479"/>
                        </a:lnSpc>
                        <a:defRPr/>
                      </a:pPr>
                      <a:r>
                        <a:rPr lang="en-US" sz="3199">
                          <a:solidFill>
                            <a:srgbClr val="000000"/>
                          </a:solidFill>
                          <a:latin typeface="Times New Roman MT"/>
                          <a:ea typeface="Times New Roman MT"/>
                          <a:cs typeface="Times New Roman MT"/>
                          <a:sym typeface="Times New Roman MT"/>
                        </a:rPr>
                        <a:t>Describes keypad interfaced to microcontroller and comparator logic, reset after 4 wrong entries, with programmable code storage. Suggests programmable flexibility in logic which you can implement with switches and logic gates.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39711" y="683909"/>
          <a:ext cx="17008577" cy="8817593"/>
        </p:xfrm>
        <a:graphic>
          <a:graphicData uri="http://schemas.openxmlformats.org/drawingml/2006/table">
            <a:tbl>
              <a:tblPr/>
              <a:tblGrid>
                <a:gridCol w="3466877">
                  <a:extLst>
                    <a:ext uri="{9D8B030D-6E8A-4147-A177-3AD203B41FA5}">
                      <a16:colId xmlns:a16="http://schemas.microsoft.com/office/drawing/2014/main" val="20000"/>
                    </a:ext>
                  </a:extLst>
                </a:gridCol>
                <a:gridCol w="3023432">
                  <a:extLst>
                    <a:ext uri="{9D8B030D-6E8A-4147-A177-3AD203B41FA5}">
                      <a16:colId xmlns:a16="http://schemas.microsoft.com/office/drawing/2014/main" val="20001"/>
                    </a:ext>
                  </a:extLst>
                </a:gridCol>
                <a:gridCol w="3466877">
                  <a:extLst>
                    <a:ext uri="{9D8B030D-6E8A-4147-A177-3AD203B41FA5}">
                      <a16:colId xmlns:a16="http://schemas.microsoft.com/office/drawing/2014/main" val="20002"/>
                    </a:ext>
                  </a:extLst>
                </a:gridCol>
                <a:gridCol w="7051391">
                  <a:extLst>
                    <a:ext uri="{9D8B030D-6E8A-4147-A177-3AD203B41FA5}">
                      <a16:colId xmlns:a16="http://schemas.microsoft.com/office/drawing/2014/main" val="20003"/>
                    </a:ext>
                  </a:extLst>
                </a:gridCol>
              </a:tblGrid>
              <a:tr h="1170962">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Tile of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gridSpan="2">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hMerge="1">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Inferences from the 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4465">
                <a:tc rowSpan="2">
                  <a:txBody>
                    <a:bodyPr/>
                    <a:lstStyle/>
                    <a:p>
                      <a:pPr algn="l">
                        <a:lnSpc>
                          <a:spcPts val="4199"/>
                        </a:lnSpc>
                        <a:defRPr/>
                      </a:pPr>
                      <a:endParaRPr lang="en-US" sz="1100"/>
                    </a:p>
                    <a:p>
                      <a:pPr algn="l">
                        <a:lnSpc>
                          <a:spcPts val="4199"/>
                        </a:lnSpc>
                      </a:pPr>
                      <a:r>
                        <a:rPr lang="en-US" sz="2999">
                          <a:solidFill>
                            <a:srgbClr val="000000"/>
                          </a:solidFill>
                          <a:latin typeface="Times New Roman MT"/>
                          <a:ea typeface="Times New Roman MT"/>
                          <a:cs typeface="Times New Roman MT"/>
                          <a:sym typeface="Times New Roman MT"/>
                        </a:rPr>
                        <a:t>Smart Door Locking System</a:t>
                      </a:r>
                    </a:p>
                    <a:p>
                      <a:pPr algn="l">
                        <a:lnSpc>
                          <a:spcPts val="4199"/>
                        </a:lnSpc>
                      </a:pPr>
                      <a:endParaRPr lang="en-US" sz="2999">
                        <a:solidFill>
                          <a:srgbClr val="000000"/>
                        </a:solidFill>
                        <a:latin typeface="Times New Roman MT"/>
                        <a:ea typeface="Times New Roman MT"/>
                        <a:cs typeface="Times New Roman MT"/>
                        <a:sym typeface="Times New Roman MT"/>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US" sz="2899" b="1">
                          <a:solidFill>
                            <a:srgbClr val="000000"/>
                          </a:solidFill>
                          <a:latin typeface="Times New Roman MT Bold"/>
                          <a:ea typeface="Times New Roman MT Bold"/>
                          <a:cs typeface="Times New Roman MT Bold"/>
                          <a:sym typeface="Times New Roman MT Bold"/>
                        </a:rPr>
                        <a:t>Authors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Times New Roman MT Bold"/>
                          <a:ea typeface="Times New Roman MT Bold"/>
                          <a:cs typeface="Times New Roman MT Bold"/>
                          <a:sym typeface="Times New Roman MT Bold"/>
                        </a:rPr>
                        <a:t>Published 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rowSpan="2">
                  <a:txBody>
                    <a:bodyPr/>
                    <a:lstStyle/>
                    <a:p>
                      <a:pPr algn="l">
                        <a:lnSpc>
                          <a:spcPts val="4479"/>
                        </a:lnSpc>
                        <a:defRPr/>
                      </a:pPr>
                      <a:r>
                        <a:rPr lang="en-US" sz="3199">
                          <a:solidFill>
                            <a:srgbClr val="000000"/>
                          </a:solidFill>
                          <a:latin typeface="Times New Roman MT"/>
                          <a:ea typeface="Times New Roman MT"/>
                          <a:cs typeface="Times New Roman MT"/>
                          <a:sym typeface="Times New Roman MT"/>
                        </a:rPr>
                        <a:t>Combines RFID and OTP. Discusses cloud alerts, timed access, and alert buzzer logic. Although IoT-based, the layered feedback and OTP/timeout behavior can be mapped into sequential logic blocks for error timeout or unlock timeout design.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42166">
                <a:tc vMerge="1">
                  <a:txBody>
                    <a:bodyPr/>
                    <a:lstStyle/>
                    <a:p>
                      <a:pPr algn="l">
                        <a:lnSpc>
                          <a:spcPts val="4199"/>
                        </a:lnSpc>
                        <a:defRPr/>
                      </a:pPr>
                      <a:endParaRPr lang="en-US" sz="1100"/>
                    </a:p>
                    <a:p>
                      <a:pPr algn="l">
                        <a:lnSpc>
                          <a:spcPts val="4199"/>
                        </a:lnSpc>
                      </a:pPr>
                      <a:r>
                        <a:rPr lang="en-US" sz="2999">
                          <a:solidFill>
                            <a:srgbClr val="000000"/>
                          </a:solidFill>
                          <a:latin typeface="Times New Roman MT"/>
                          <a:ea typeface="Times New Roman MT"/>
                          <a:cs typeface="Times New Roman MT"/>
                          <a:sym typeface="Times New Roman MT"/>
                        </a:rPr>
                        <a:t>Smart Door Locking System</a:t>
                      </a:r>
                    </a:p>
                    <a:p>
                      <a:pPr algn="l">
                        <a:lnSpc>
                          <a:spcPts val="4199"/>
                        </a:lnSpc>
                      </a:pPr>
                      <a:endParaRPr lang="en-US" sz="2999">
                        <a:solidFill>
                          <a:srgbClr val="000000"/>
                        </a:solidFill>
                        <a:latin typeface="Times New Roman MT"/>
                        <a:ea typeface="Times New Roman MT"/>
                        <a:cs typeface="Times New Roman MT"/>
                        <a:sym typeface="Times New Roman MT"/>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79"/>
                        </a:lnSpc>
                        <a:defRPr/>
                      </a:pPr>
                      <a:r>
                        <a:rPr lang="en-US" sz="3199">
                          <a:solidFill>
                            <a:srgbClr val="000000"/>
                          </a:solidFill>
                          <a:latin typeface="Times New Roman MT"/>
                          <a:ea typeface="Times New Roman MT"/>
                          <a:cs typeface="Times New Roman MT"/>
                          <a:sym typeface="Times New Roman MT"/>
                        </a:rPr>
                        <a:t>Aswini D, Rohindh R, Manoj Ragavendhara KS, Mridula C 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4199"/>
                        </a:lnSpc>
                        <a:defRPr/>
                      </a:pPr>
                      <a:r>
                        <a:rPr lang="en-US" sz="2999">
                          <a:solidFill>
                            <a:srgbClr val="000000"/>
                          </a:solidFill>
                          <a:latin typeface="Times New Roman MT"/>
                          <a:ea typeface="Times New Roman MT"/>
                          <a:cs typeface="Times New Roman MT"/>
                          <a:sym typeface="Times New Roman MT"/>
                        </a:rPr>
                        <a:t>2021 Int. Conf. on Advancements in Electrical, Electronics, Communication, Computing and Automation (ICAECA), doi: 10.1109/ICAECA52838.2021.9675590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vMerge="1">
                  <a:txBody>
                    <a:bodyPr/>
                    <a:lstStyle/>
                    <a:p>
                      <a:pPr algn="l">
                        <a:lnSpc>
                          <a:spcPts val="4479"/>
                        </a:lnSpc>
                        <a:defRPr/>
                      </a:pPr>
                      <a:r>
                        <a:rPr lang="en-US" sz="3199">
                          <a:solidFill>
                            <a:srgbClr val="000000"/>
                          </a:solidFill>
                          <a:latin typeface="Times New Roman MT"/>
                          <a:ea typeface="Times New Roman MT"/>
                          <a:cs typeface="Times New Roman MT"/>
                          <a:sym typeface="Times New Roman MT"/>
                        </a:rPr>
                        <a:t>Combines RFID and OTP. Discusses cloud alerts, timed access, and alert buzzer logic. Although IoT-based, the layered feedback and OTP/timeout behavior can be mapped into sequential logic blocks for error timeout or unlock timeout design.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359143" y="-376389"/>
            <a:ext cx="2928857" cy="2810178"/>
            <a:chOff x="0" y="0"/>
            <a:chExt cx="3905143" cy="3746904"/>
          </a:xfrm>
        </p:grpSpPr>
        <p:grpSp>
          <p:nvGrpSpPr>
            <p:cNvPr id="3" name="Group 3"/>
            <p:cNvGrpSpPr/>
            <p:nvPr/>
          </p:nvGrpSpPr>
          <p:grpSpPr>
            <a:xfrm>
              <a:off x="3019656" y="0"/>
              <a:ext cx="885486" cy="3011111"/>
              <a:chOff x="0" y="0"/>
              <a:chExt cx="174911" cy="594787"/>
            </a:xfrm>
          </p:grpSpPr>
          <p:sp>
            <p:nvSpPr>
              <p:cNvPr id="4" name="Freeform 4"/>
              <p:cNvSpPr/>
              <p:nvPr/>
            </p:nvSpPr>
            <p:spPr>
              <a:xfrm>
                <a:off x="0" y="0"/>
                <a:ext cx="174911" cy="594787"/>
              </a:xfrm>
              <a:custGeom>
                <a:avLst/>
                <a:gdLst/>
                <a:ahLst/>
                <a:cxnLst/>
                <a:rect l="l" t="t" r="r" b="b"/>
                <a:pathLst>
                  <a:path w="174911" h="594787">
                    <a:moveTo>
                      <a:pt x="87455" y="0"/>
                    </a:moveTo>
                    <a:lnTo>
                      <a:pt x="87455" y="0"/>
                    </a:lnTo>
                    <a:cubicBezTo>
                      <a:pt x="135756" y="0"/>
                      <a:pt x="174911" y="39155"/>
                      <a:pt x="174911" y="87455"/>
                    </a:cubicBezTo>
                    <a:lnTo>
                      <a:pt x="174911" y="507332"/>
                    </a:lnTo>
                    <a:cubicBezTo>
                      <a:pt x="174911" y="530526"/>
                      <a:pt x="165697" y="552771"/>
                      <a:pt x="149296" y="569172"/>
                    </a:cubicBezTo>
                    <a:cubicBezTo>
                      <a:pt x="132895" y="585573"/>
                      <a:pt x="110650" y="594787"/>
                      <a:pt x="87455" y="594787"/>
                    </a:cubicBezTo>
                    <a:lnTo>
                      <a:pt x="87455" y="594787"/>
                    </a:lnTo>
                    <a:cubicBezTo>
                      <a:pt x="39155" y="594787"/>
                      <a:pt x="0" y="555632"/>
                      <a:pt x="0" y="507332"/>
                    </a:cubicBezTo>
                    <a:lnTo>
                      <a:pt x="0" y="87455"/>
                    </a:lnTo>
                    <a:cubicBezTo>
                      <a:pt x="0" y="64261"/>
                      <a:pt x="9214" y="42016"/>
                      <a:pt x="25615" y="25615"/>
                    </a:cubicBezTo>
                    <a:cubicBezTo>
                      <a:pt x="42016" y="9214"/>
                      <a:pt x="64261" y="0"/>
                      <a:pt x="87455" y="0"/>
                    </a:cubicBezTo>
                    <a:close/>
                  </a:path>
                </a:pathLst>
              </a:custGeom>
              <a:solidFill>
                <a:srgbClr val="61C8A3"/>
              </a:solidFill>
            </p:spPr>
            <p:txBody>
              <a:bodyPr/>
              <a:lstStyle/>
              <a:p>
                <a:endParaRPr lang="en-IN"/>
              </a:p>
            </p:txBody>
          </p:sp>
          <p:sp>
            <p:nvSpPr>
              <p:cNvPr id="5" name="TextBox 5"/>
              <p:cNvSpPr txBox="1"/>
              <p:nvPr/>
            </p:nvSpPr>
            <p:spPr>
              <a:xfrm>
                <a:off x="0" y="-38100"/>
                <a:ext cx="174911" cy="63288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07786" y="0"/>
              <a:ext cx="885486" cy="3746904"/>
              <a:chOff x="0" y="0"/>
              <a:chExt cx="174911" cy="740129"/>
            </a:xfrm>
          </p:grpSpPr>
          <p:sp>
            <p:nvSpPr>
              <p:cNvPr id="7" name="Freeform 7"/>
              <p:cNvSpPr/>
              <p:nvPr/>
            </p:nvSpPr>
            <p:spPr>
              <a:xfrm>
                <a:off x="0" y="0"/>
                <a:ext cx="174911" cy="740129"/>
              </a:xfrm>
              <a:custGeom>
                <a:avLst/>
                <a:gdLst/>
                <a:ahLst/>
                <a:cxnLst/>
                <a:rect l="l" t="t" r="r" b="b"/>
                <a:pathLst>
                  <a:path w="174911" h="740129">
                    <a:moveTo>
                      <a:pt x="87455" y="0"/>
                    </a:moveTo>
                    <a:lnTo>
                      <a:pt x="87455" y="0"/>
                    </a:lnTo>
                    <a:cubicBezTo>
                      <a:pt x="135756" y="0"/>
                      <a:pt x="174911" y="39155"/>
                      <a:pt x="174911" y="87455"/>
                    </a:cubicBezTo>
                    <a:lnTo>
                      <a:pt x="174911" y="652674"/>
                    </a:lnTo>
                    <a:cubicBezTo>
                      <a:pt x="174911" y="675868"/>
                      <a:pt x="165697" y="698113"/>
                      <a:pt x="149296" y="714514"/>
                    </a:cubicBezTo>
                    <a:cubicBezTo>
                      <a:pt x="132895" y="730915"/>
                      <a:pt x="110650" y="740129"/>
                      <a:pt x="87455" y="740129"/>
                    </a:cubicBezTo>
                    <a:lnTo>
                      <a:pt x="87455" y="740129"/>
                    </a:lnTo>
                    <a:cubicBezTo>
                      <a:pt x="64261" y="740129"/>
                      <a:pt x="42016" y="730915"/>
                      <a:pt x="25615" y="714514"/>
                    </a:cubicBezTo>
                    <a:cubicBezTo>
                      <a:pt x="9214" y="698113"/>
                      <a:pt x="0" y="675868"/>
                      <a:pt x="0" y="652674"/>
                    </a:cubicBezTo>
                    <a:lnTo>
                      <a:pt x="0" y="87455"/>
                    </a:lnTo>
                    <a:cubicBezTo>
                      <a:pt x="0" y="64261"/>
                      <a:pt x="9214" y="42016"/>
                      <a:pt x="25615" y="25615"/>
                    </a:cubicBezTo>
                    <a:cubicBezTo>
                      <a:pt x="42016" y="9214"/>
                      <a:pt x="64261" y="0"/>
                      <a:pt x="87455" y="0"/>
                    </a:cubicBezTo>
                    <a:close/>
                  </a:path>
                </a:pathLst>
              </a:custGeom>
              <a:solidFill>
                <a:srgbClr val="000000">
                  <a:alpha val="0"/>
                </a:srgbClr>
              </a:solidFill>
              <a:ln w="38100" cap="rnd">
                <a:solidFill>
                  <a:srgbClr val="6C584C"/>
                </a:solidFill>
                <a:prstDash val="solid"/>
                <a:round/>
              </a:ln>
            </p:spPr>
            <p:txBody>
              <a:bodyPr/>
              <a:lstStyle/>
              <a:p>
                <a:endParaRPr lang="en-IN"/>
              </a:p>
            </p:txBody>
          </p:sp>
          <p:sp>
            <p:nvSpPr>
              <p:cNvPr id="8" name="TextBox 8"/>
              <p:cNvSpPr txBox="1"/>
              <p:nvPr/>
            </p:nvSpPr>
            <p:spPr>
              <a:xfrm>
                <a:off x="0" y="-38100"/>
                <a:ext cx="174911" cy="778229"/>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0"/>
              <a:ext cx="885486" cy="2098277"/>
              <a:chOff x="0" y="0"/>
              <a:chExt cx="174911" cy="414475"/>
            </a:xfrm>
          </p:grpSpPr>
          <p:sp>
            <p:nvSpPr>
              <p:cNvPr id="10" name="Freeform 10"/>
              <p:cNvSpPr/>
              <p:nvPr/>
            </p:nvSpPr>
            <p:spPr>
              <a:xfrm>
                <a:off x="0" y="0"/>
                <a:ext cx="174911" cy="414475"/>
              </a:xfrm>
              <a:custGeom>
                <a:avLst/>
                <a:gdLst/>
                <a:ahLst/>
                <a:cxnLst/>
                <a:rect l="l" t="t" r="r" b="b"/>
                <a:pathLst>
                  <a:path w="174911" h="414475">
                    <a:moveTo>
                      <a:pt x="87455" y="0"/>
                    </a:moveTo>
                    <a:lnTo>
                      <a:pt x="87455" y="0"/>
                    </a:lnTo>
                    <a:cubicBezTo>
                      <a:pt x="135756" y="0"/>
                      <a:pt x="174911" y="39155"/>
                      <a:pt x="174911" y="87455"/>
                    </a:cubicBezTo>
                    <a:lnTo>
                      <a:pt x="174911" y="327019"/>
                    </a:lnTo>
                    <a:cubicBezTo>
                      <a:pt x="174911" y="350214"/>
                      <a:pt x="165697" y="372458"/>
                      <a:pt x="149296" y="388859"/>
                    </a:cubicBezTo>
                    <a:cubicBezTo>
                      <a:pt x="132895" y="405261"/>
                      <a:pt x="110650" y="414475"/>
                      <a:pt x="87455" y="414475"/>
                    </a:cubicBezTo>
                    <a:lnTo>
                      <a:pt x="87455" y="414475"/>
                    </a:lnTo>
                    <a:cubicBezTo>
                      <a:pt x="39155" y="414475"/>
                      <a:pt x="0" y="375319"/>
                      <a:pt x="0" y="327019"/>
                    </a:cubicBezTo>
                    <a:lnTo>
                      <a:pt x="0" y="87455"/>
                    </a:lnTo>
                    <a:cubicBezTo>
                      <a:pt x="0" y="64261"/>
                      <a:pt x="9214" y="42016"/>
                      <a:pt x="25615" y="25615"/>
                    </a:cubicBezTo>
                    <a:cubicBezTo>
                      <a:pt x="42016" y="9214"/>
                      <a:pt x="64261" y="0"/>
                      <a:pt x="87455" y="0"/>
                    </a:cubicBezTo>
                    <a:close/>
                  </a:path>
                </a:pathLst>
              </a:custGeom>
              <a:solidFill>
                <a:srgbClr val="6C584C"/>
              </a:solidFill>
            </p:spPr>
            <p:txBody>
              <a:bodyPr/>
              <a:lstStyle/>
              <a:p>
                <a:endParaRPr lang="en-IN"/>
              </a:p>
            </p:txBody>
          </p:sp>
          <p:sp>
            <p:nvSpPr>
              <p:cNvPr id="11" name="TextBox 11"/>
              <p:cNvSpPr txBox="1"/>
              <p:nvPr/>
            </p:nvSpPr>
            <p:spPr>
              <a:xfrm>
                <a:off x="0" y="-38100"/>
                <a:ext cx="174911" cy="452575"/>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2" name="Group 12"/>
          <p:cNvGrpSpPr/>
          <p:nvPr/>
        </p:nvGrpSpPr>
        <p:grpSpPr>
          <a:xfrm>
            <a:off x="-1045685" y="0"/>
            <a:ext cx="2074385" cy="10287000"/>
            <a:chOff x="0" y="0"/>
            <a:chExt cx="546340" cy="2709333"/>
          </a:xfrm>
        </p:grpSpPr>
        <p:sp>
          <p:nvSpPr>
            <p:cNvPr id="13" name="Freeform 13"/>
            <p:cNvSpPr/>
            <p:nvPr/>
          </p:nvSpPr>
          <p:spPr>
            <a:xfrm>
              <a:off x="0" y="0"/>
              <a:ext cx="546340" cy="2709333"/>
            </a:xfrm>
            <a:custGeom>
              <a:avLst/>
              <a:gdLst/>
              <a:ahLst/>
              <a:cxnLst/>
              <a:rect l="l" t="t" r="r" b="b"/>
              <a:pathLst>
                <a:path w="546340" h="2709333">
                  <a:moveTo>
                    <a:pt x="0" y="0"/>
                  </a:moveTo>
                  <a:lnTo>
                    <a:pt x="546340" y="0"/>
                  </a:lnTo>
                  <a:lnTo>
                    <a:pt x="546340" y="2709333"/>
                  </a:lnTo>
                  <a:lnTo>
                    <a:pt x="0" y="2709333"/>
                  </a:lnTo>
                  <a:close/>
                </a:path>
              </a:pathLst>
            </a:custGeom>
            <a:solidFill>
              <a:srgbClr val="61C8A3"/>
            </a:solidFill>
          </p:spPr>
          <p:txBody>
            <a:bodyPr/>
            <a:lstStyle/>
            <a:p>
              <a:endParaRPr lang="en-IN"/>
            </a:p>
          </p:txBody>
        </p:sp>
        <p:sp>
          <p:nvSpPr>
            <p:cNvPr id="14" name="TextBox 14"/>
            <p:cNvSpPr txBox="1"/>
            <p:nvPr/>
          </p:nvSpPr>
          <p:spPr>
            <a:xfrm>
              <a:off x="0" y="-38100"/>
              <a:ext cx="546340" cy="2747433"/>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489066" y="342900"/>
            <a:ext cx="5474948" cy="1143000"/>
          </a:xfrm>
          <a:prstGeom prst="rect">
            <a:avLst/>
          </a:prstGeom>
        </p:spPr>
        <p:txBody>
          <a:bodyPr lIns="0" tIns="0" rIns="0" bIns="0" rtlCol="0" anchor="t">
            <a:spAutoFit/>
          </a:bodyPr>
          <a:lstStyle/>
          <a:p>
            <a:pPr algn="ctr">
              <a:lnSpc>
                <a:spcPts val="8400"/>
              </a:lnSpc>
              <a:spcBef>
                <a:spcPct val="0"/>
              </a:spcBef>
            </a:pPr>
            <a:r>
              <a:rPr lang="en-US" sz="6000">
                <a:solidFill>
                  <a:srgbClr val="000000"/>
                </a:solidFill>
                <a:latin typeface="Luciole"/>
                <a:ea typeface="Luciole"/>
                <a:cs typeface="Luciole"/>
                <a:sym typeface="Luciole"/>
              </a:rPr>
              <a:t>REFERENCES</a:t>
            </a:r>
          </a:p>
        </p:txBody>
      </p:sp>
      <p:sp>
        <p:nvSpPr>
          <p:cNvPr id="16" name="TextBox 16"/>
          <p:cNvSpPr txBox="1"/>
          <p:nvPr/>
        </p:nvSpPr>
        <p:spPr>
          <a:xfrm>
            <a:off x="1028700" y="1701264"/>
            <a:ext cx="16798934" cy="8518280"/>
          </a:xfrm>
          <a:prstGeom prst="rect">
            <a:avLst/>
          </a:prstGeom>
        </p:spPr>
        <p:txBody>
          <a:bodyPr lIns="0" tIns="0" rIns="0" bIns="0" rtlCol="0" anchor="t">
            <a:spAutoFit/>
          </a:bodyPr>
          <a:lstStyle/>
          <a:p>
            <a:pPr algn="just">
              <a:lnSpc>
                <a:spcPts val="3383"/>
              </a:lnSpc>
            </a:pPr>
            <a:endParaRPr/>
          </a:p>
          <a:p>
            <a:pPr marL="521737" lvl="1" indent="-260868" algn="just">
              <a:lnSpc>
                <a:spcPts val="4373"/>
              </a:lnSpc>
              <a:buAutoNum type="arabicPeriod"/>
            </a:pPr>
            <a:r>
              <a:rPr lang="en-US" sz="2416">
                <a:solidFill>
                  <a:srgbClr val="000000"/>
                </a:solidFill>
                <a:latin typeface="Luciole"/>
                <a:ea typeface="Luciole"/>
                <a:cs typeface="Luciole"/>
                <a:sym typeface="Luciole"/>
              </a:rPr>
              <a:t>S. Kurundkar, B. Bhoge, G. Bhole, S. Bele, and A. Bhosale, “Advance security system,” in Proc. 2023 IEEE 8th Int. Conf. for Convergence in Technology (I2CT), Pune, India, Apr. 2023, pp. 1–4. doi: </a:t>
            </a:r>
            <a:r>
              <a:rPr lang="en-US" sz="2416" u="sng">
                <a:solidFill>
                  <a:srgbClr val="000000"/>
                </a:solidFill>
                <a:latin typeface="Luciole"/>
                <a:ea typeface="Luciole"/>
                <a:cs typeface="Luciole"/>
                <a:sym typeface="Luciole"/>
                <a:hlinkClick r:id="rId2" tooltip="https://doi.org/10.1109/I2CT57861.2023.10126415"/>
              </a:rPr>
              <a:t>10.1109/I2CT57861.2023.10126415</a:t>
            </a:r>
          </a:p>
          <a:p>
            <a:pPr marL="521737" lvl="1" indent="-260868" algn="just">
              <a:lnSpc>
                <a:spcPts val="4373"/>
              </a:lnSpc>
              <a:buAutoNum type="arabicPeriod"/>
            </a:pPr>
            <a:r>
              <a:rPr lang="en-US" sz="2416">
                <a:solidFill>
                  <a:srgbClr val="000000"/>
                </a:solidFill>
                <a:latin typeface="Luciole"/>
                <a:ea typeface="Luciole"/>
                <a:cs typeface="Luciole"/>
                <a:sym typeface="Luciole"/>
              </a:rPr>
              <a:t>A. Ahmed, J. Mohamed, M. Abdi, S. Abdulkadir, S. A. Ali, and S. A. Kahie, “Design and Implementation of an IoT based Smart Door Lock System,” in Proc. 2023 2nd Int. Conf. on Multidisciplinary Engineering and Applied Science (ICMEAS), Mogadishu, Somalia, 2023, pp. 1–5. doi: </a:t>
            </a:r>
            <a:r>
              <a:rPr lang="en-US" sz="2416" u="sng">
                <a:solidFill>
                  <a:srgbClr val="000000"/>
                </a:solidFill>
                <a:latin typeface="Luciole"/>
                <a:ea typeface="Luciole"/>
                <a:cs typeface="Luciole"/>
                <a:sym typeface="Luciole"/>
                <a:hlinkClick r:id="rId3" tooltip="https://doi.org/10.1109/ICMEAS58693.2023.10379324"/>
              </a:rPr>
              <a:t>10.1109/ICMEAS58693.2023.10379324</a:t>
            </a:r>
          </a:p>
          <a:p>
            <a:pPr marL="521737" lvl="1" indent="-260868" algn="just">
              <a:lnSpc>
                <a:spcPts val="4373"/>
              </a:lnSpc>
              <a:buAutoNum type="arabicPeriod"/>
            </a:pPr>
            <a:r>
              <a:rPr lang="en-US" sz="2416">
                <a:solidFill>
                  <a:srgbClr val="000000"/>
                </a:solidFill>
                <a:latin typeface="Luciole"/>
                <a:ea typeface="Luciole"/>
                <a:cs typeface="Luciole"/>
                <a:sym typeface="Luciole"/>
              </a:rPr>
              <a:t>A. Oke, A. A. Adigun, A. S. Falohun, and F. O. Alamu, “Development of a Programmable Electronic Digital Code Lock System,” Int. J. Computer and Information Technology, vol. 2, no. 1, pp. 127–130, Jan. 2013. [Online]. Available: </a:t>
            </a:r>
            <a:r>
              <a:rPr lang="en-US" sz="2416" u="sng">
                <a:solidFill>
                  <a:srgbClr val="000000"/>
                </a:solidFill>
                <a:latin typeface="Luciole"/>
                <a:ea typeface="Luciole"/>
                <a:cs typeface="Luciole"/>
                <a:sym typeface="Luciole"/>
                <a:hlinkClick r:id="rId4" tooltip="https://www.researchgate.net/publication/297637448"/>
              </a:rPr>
              <a:t>https://www.researchgate.net/publication/297637448</a:t>
            </a:r>
          </a:p>
          <a:p>
            <a:pPr marL="521737" lvl="1" indent="-260868" algn="just">
              <a:lnSpc>
                <a:spcPts val="4373"/>
              </a:lnSpc>
              <a:buAutoNum type="arabicPeriod"/>
            </a:pPr>
            <a:r>
              <a:rPr lang="en-US" sz="2416">
                <a:solidFill>
                  <a:srgbClr val="000000"/>
                </a:solidFill>
                <a:latin typeface="Luciole"/>
                <a:ea typeface="Luciole"/>
                <a:cs typeface="Luciole"/>
                <a:sym typeface="Luciole"/>
              </a:rPr>
              <a:t>A. Pramanik, “Digital Design of a Digital Combination Lock,” Int. J. Eng. Res. Appl. Sci. (IJERAS), vol. 1, no. 1, pp. 18–23, 2014.</a:t>
            </a:r>
          </a:p>
          <a:p>
            <a:pPr marL="521737" lvl="1" indent="-260868" algn="just">
              <a:lnSpc>
                <a:spcPts val="4373"/>
              </a:lnSpc>
              <a:buAutoNum type="arabicPeriod"/>
            </a:pPr>
            <a:r>
              <a:rPr lang="en-US" sz="2416">
                <a:solidFill>
                  <a:srgbClr val="000000"/>
                </a:solidFill>
                <a:latin typeface="Luciole"/>
                <a:ea typeface="Luciole"/>
                <a:cs typeface="Luciole"/>
                <a:sym typeface="Luciole"/>
              </a:rPr>
              <a:t>D. Aswini, R. Rohindh, C. S. Mridula, and K. S. Manoj Ragavendhara, “Smart Door Locking System,” in Proc. 2021 Int. Conf. on Advancements in Electrical, Electronics, Communication, Computing and Automation (ICAECA), Coimbatore, India, 2021, pp. 1–5. doi: </a:t>
            </a:r>
            <a:r>
              <a:rPr lang="en-US" sz="2416" u="sng">
                <a:solidFill>
                  <a:srgbClr val="000000"/>
                </a:solidFill>
                <a:latin typeface="Luciole"/>
                <a:ea typeface="Luciole"/>
                <a:cs typeface="Luciole"/>
                <a:sym typeface="Luciole"/>
                <a:hlinkClick r:id="rId5" tooltip="https://doi.org/10.1109/ICAECA52838.2021.9675590"/>
              </a:rPr>
              <a:t>10.1109/ICAECA52838.2021.9675590</a:t>
            </a:r>
          </a:p>
          <a:p>
            <a:pPr algn="just">
              <a:lnSpc>
                <a:spcPts val="2593"/>
              </a:lnSpc>
              <a:spcBef>
                <a:spcPct val="0"/>
              </a:spcBef>
            </a:pPr>
            <a:endParaRPr lang="en-US" sz="2416" u="sng">
              <a:solidFill>
                <a:srgbClr val="000000"/>
              </a:solidFill>
              <a:latin typeface="Luciole"/>
              <a:ea typeface="Luciole"/>
              <a:cs typeface="Luciole"/>
              <a:sym typeface="Luciole"/>
              <a:hlinkClick r:id="rId5" tooltip="https://doi.org/10.1109/ICAECA52838.2021.967559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8023860" cy="10287000"/>
          </a:xfrm>
          <a:custGeom>
            <a:avLst/>
            <a:gdLst/>
            <a:ahLst/>
            <a:cxnLst/>
            <a:rect l="l" t="t" r="r" b="b"/>
            <a:pathLst>
              <a:path w="8023860" h="10287000">
                <a:moveTo>
                  <a:pt x="0" y="0"/>
                </a:moveTo>
                <a:lnTo>
                  <a:pt x="8023860" y="0"/>
                </a:lnTo>
                <a:lnTo>
                  <a:pt x="802386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796838" y="1253305"/>
            <a:ext cx="4641231" cy="3890195"/>
          </a:xfrm>
          <a:custGeom>
            <a:avLst/>
            <a:gdLst/>
            <a:ahLst/>
            <a:cxnLst/>
            <a:rect l="l" t="t" r="r" b="b"/>
            <a:pathLst>
              <a:path w="4641231" h="3890195">
                <a:moveTo>
                  <a:pt x="0" y="0"/>
                </a:moveTo>
                <a:lnTo>
                  <a:pt x="4641231" y="0"/>
                </a:lnTo>
                <a:lnTo>
                  <a:pt x="4641231" y="3890195"/>
                </a:lnTo>
                <a:lnTo>
                  <a:pt x="0" y="38901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TextBox 4"/>
          <p:cNvSpPr txBox="1"/>
          <p:nvPr/>
        </p:nvSpPr>
        <p:spPr>
          <a:xfrm>
            <a:off x="8448189" y="4013200"/>
            <a:ext cx="8386782" cy="1889126"/>
          </a:xfrm>
          <a:prstGeom prst="rect">
            <a:avLst/>
          </a:prstGeom>
        </p:spPr>
        <p:txBody>
          <a:bodyPr lIns="0" tIns="0" rIns="0" bIns="0" rtlCol="0" anchor="t">
            <a:spAutoFit/>
          </a:bodyPr>
          <a:lstStyle/>
          <a:p>
            <a:pPr algn="ctr">
              <a:lnSpc>
                <a:spcPts val="13999"/>
              </a:lnSpc>
              <a:spcBef>
                <a:spcPct val="0"/>
              </a:spcBef>
            </a:pPr>
            <a:r>
              <a:rPr lang="en-US" sz="9999">
                <a:solidFill>
                  <a:srgbClr val="000000"/>
                </a:solidFill>
                <a:latin typeface="Luciole"/>
                <a:ea typeface="Luciole"/>
                <a:cs typeface="Luciole"/>
                <a:sym typeface="Luciol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868</Words>
  <Application>Microsoft Office PowerPoint</Application>
  <PresentationFormat>Custom</PresentationFormat>
  <Paragraphs>74</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Times New Roman MT</vt:lpstr>
      <vt:lpstr>Agrandir Tight Bold</vt:lpstr>
      <vt:lpstr>Luciole</vt:lpstr>
      <vt:lpstr>Canva Sans Bold</vt:lpstr>
      <vt:lpstr>Oswald</vt:lpstr>
      <vt:lpstr>Times New Roman MT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23ECE381C10_Review_1</dc:title>
  <cp:lastModifiedBy>Sujith Krishna</cp:lastModifiedBy>
  <cp:revision>3</cp:revision>
  <dcterms:created xsi:type="dcterms:W3CDTF">2006-08-16T00:00:00Z</dcterms:created>
  <dcterms:modified xsi:type="dcterms:W3CDTF">2025-10-10T16:10:00Z</dcterms:modified>
  <dc:identifier>DAGt9Wk6RH0</dc:identifier>
</cp:coreProperties>
</file>